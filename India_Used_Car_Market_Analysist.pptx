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65" r:id="rId2"/>
    <p:sldId id="256" r:id="rId3"/>
    <p:sldId id="257" r:id="rId4"/>
    <p:sldId id="259" r:id="rId5"/>
    <p:sldId id="260" r:id="rId6"/>
    <p:sldId id="261" r:id="rId7"/>
    <p:sldId id="262" r:id="rId8"/>
    <p:sldId id="263" r:id="rId9"/>
    <p:sldId id="264"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41" autoAdjust="0"/>
  </p:normalViewPr>
  <p:slideViewPr>
    <p:cSldViewPr snapToGrid="0">
      <p:cViewPr varScale="1">
        <p:scale>
          <a:sx n="78" d="100"/>
          <a:sy n="78" d="100"/>
        </p:scale>
        <p:origin x="154" y="43"/>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3419FE-EF0A-4572-B929-0957A733A32B}" type="datetimeFigureOut">
              <a:rPr lang="en-IN" smtClean="0"/>
              <a:t>26-02-2026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2DB079-8772-4400-8777-33EDCCAA5BDF}" type="slidenum">
              <a:rPr lang="en-IN" smtClean="0"/>
              <a:t>‹#›</a:t>
            </a:fld>
            <a:endParaRPr lang="en-IN"/>
          </a:p>
        </p:txBody>
      </p:sp>
    </p:spTree>
    <p:extLst>
      <p:ext uri="{BB962C8B-B14F-4D97-AF65-F5344CB8AC3E}">
        <p14:creationId xmlns:p14="http://schemas.microsoft.com/office/powerpoint/2010/main" val="1908246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E2DB079-8772-4400-8777-33EDCCAA5BDF}" type="slidenum">
              <a:rPr lang="en-IN" smtClean="0"/>
              <a:t>1</a:t>
            </a:fld>
            <a:endParaRPr lang="en-IN"/>
          </a:p>
        </p:txBody>
      </p:sp>
    </p:spTree>
    <p:extLst>
      <p:ext uri="{BB962C8B-B14F-4D97-AF65-F5344CB8AC3E}">
        <p14:creationId xmlns:p14="http://schemas.microsoft.com/office/powerpoint/2010/main" val="18203212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E2DB079-8772-4400-8777-33EDCCAA5BDF}" type="slidenum">
              <a:rPr lang="en-IN" smtClean="0"/>
              <a:t>6</a:t>
            </a:fld>
            <a:endParaRPr lang="en-IN"/>
          </a:p>
        </p:txBody>
      </p:sp>
    </p:spTree>
    <p:extLst>
      <p:ext uri="{BB962C8B-B14F-4D97-AF65-F5344CB8AC3E}">
        <p14:creationId xmlns:p14="http://schemas.microsoft.com/office/powerpoint/2010/main" val="22434068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583F5ED-1524-444B-B380-894D254A3A25}" type="datetimeFigureOut">
              <a:rPr lang="en-IN" smtClean="0"/>
              <a:t>26-02-2026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B842523-AE6C-42D2-BB4D-DB96A79E1528}" type="slidenum">
              <a:rPr lang="en-IN" smtClean="0"/>
              <a:t>‹#›</a:t>
            </a:fld>
            <a:endParaRPr lang="en-IN"/>
          </a:p>
        </p:txBody>
      </p:sp>
    </p:spTree>
    <p:extLst>
      <p:ext uri="{BB962C8B-B14F-4D97-AF65-F5344CB8AC3E}">
        <p14:creationId xmlns:p14="http://schemas.microsoft.com/office/powerpoint/2010/main" val="20953809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83F5ED-1524-444B-B380-894D254A3A25}" type="datetimeFigureOut">
              <a:rPr lang="en-IN" smtClean="0"/>
              <a:t>26-02-2026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B842523-AE6C-42D2-BB4D-DB96A79E1528}" type="slidenum">
              <a:rPr lang="en-IN" smtClean="0"/>
              <a:t>‹#›</a:t>
            </a:fld>
            <a:endParaRPr lang="en-IN"/>
          </a:p>
        </p:txBody>
      </p:sp>
    </p:spTree>
    <p:extLst>
      <p:ext uri="{BB962C8B-B14F-4D97-AF65-F5344CB8AC3E}">
        <p14:creationId xmlns:p14="http://schemas.microsoft.com/office/powerpoint/2010/main" val="28799023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583F5ED-1524-444B-B380-894D254A3A25}" type="datetimeFigureOut">
              <a:rPr lang="en-IN" smtClean="0"/>
              <a:t>26-02-2026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B842523-AE6C-42D2-BB4D-DB96A79E1528}" type="slidenum">
              <a:rPr lang="en-IN" smtClean="0"/>
              <a:t>‹#›</a:t>
            </a:fld>
            <a:endParaRPr lang="en-IN"/>
          </a:p>
        </p:txBody>
      </p:sp>
    </p:spTree>
    <p:extLst>
      <p:ext uri="{BB962C8B-B14F-4D97-AF65-F5344CB8AC3E}">
        <p14:creationId xmlns:p14="http://schemas.microsoft.com/office/powerpoint/2010/main" val="22222623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583F5ED-1524-444B-B380-894D254A3A25}" type="datetimeFigureOut">
              <a:rPr lang="en-IN" smtClean="0"/>
              <a:t>26-02-2026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B842523-AE6C-42D2-BB4D-DB96A79E1528}" type="slidenum">
              <a:rPr lang="en-IN" smtClean="0"/>
              <a:t>‹#›</a:t>
            </a:fld>
            <a:endParaRPr lang="en-IN"/>
          </a:p>
        </p:txBody>
      </p:sp>
    </p:spTree>
    <p:extLst>
      <p:ext uri="{BB962C8B-B14F-4D97-AF65-F5344CB8AC3E}">
        <p14:creationId xmlns:p14="http://schemas.microsoft.com/office/powerpoint/2010/main" val="16781698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583F5ED-1524-444B-B380-894D254A3A25}" type="datetimeFigureOut">
              <a:rPr lang="en-IN" smtClean="0"/>
              <a:t>26-02-2026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B842523-AE6C-42D2-BB4D-DB96A79E1528}" type="slidenum">
              <a:rPr lang="en-IN" smtClean="0"/>
              <a:t>‹#›</a:t>
            </a:fld>
            <a:endParaRPr lang="en-IN"/>
          </a:p>
        </p:txBody>
      </p:sp>
    </p:spTree>
    <p:extLst>
      <p:ext uri="{BB962C8B-B14F-4D97-AF65-F5344CB8AC3E}">
        <p14:creationId xmlns:p14="http://schemas.microsoft.com/office/powerpoint/2010/main" val="2662073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583F5ED-1524-444B-B380-894D254A3A25}" type="datetimeFigureOut">
              <a:rPr lang="en-IN" smtClean="0"/>
              <a:t>26-02-2026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B842523-AE6C-42D2-BB4D-DB96A79E1528}" type="slidenum">
              <a:rPr lang="en-IN" smtClean="0"/>
              <a:t>‹#›</a:t>
            </a:fld>
            <a:endParaRPr lang="en-IN"/>
          </a:p>
        </p:txBody>
      </p:sp>
    </p:spTree>
    <p:extLst>
      <p:ext uri="{BB962C8B-B14F-4D97-AF65-F5344CB8AC3E}">
        <p14:creationId xmlns:p14="http://schemas.microsoft.com/office/powerpoint/2010/main" val="6233837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83F5ED-1524-444B-B380-894D254A3A25}" type="datetimeFigureOut">
              <a:rPr lang="en-IN" smtClean="0"/>
              <a:t>26-02-2026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B842523-AE6C-42D2-BB4D-DB96A79E1528}" type="slidenum">
              <a:rPr lang="en-IN" smtClean="0"/>
              <a:t>‹#›</a:t>
            </a:fld>
            <a:endParaRPr lang="en-IN"/>
          </a:p>
        </p:txBody>
      </p:sp>
    </p:spTree>
    <p:extLst>
      <p:ext uri="{BB962C8B-B14F-4D97-AF65-F5344CB8AC3E}">
        <p14:creationId xmlns:p14="http://schemas.microsoft.com/office/powerpoint/2010/main" val="3207573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583F5ED-1524-444B-B380-894D254A3A25}" type="datetimeFigureOut">
              <a:rPr lang="en-IN" smtClean="0"/>
              <a:t>26-02-2026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B842523-AE6C-42D2-BB4D-DB96A79E1528}" type="slidenum">
              <a:rPr lang="en-IN" smtClean="0"/>
              <a:t>‹#›</a:t>
            </a:fld>
            <a:endParaRPr lang="en-IN"/>
          </a:p>
        </p:txBody>
      </p:sp>
    </p:spTree>
    <p:extLst>
      <p:ext uri="{BB962C8B-B14F-4D97-AF65-F5344CB8AC3E}">
        <p14:creationId xmlns:p14="http://schemas.microsoft.com/office/powerpoint/2010/main" val="64634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583F5ED-1524-444B-B380-894D254A3A25}" type="datetimeFigureOut">
              <a:rPr lang="en-IN" smtClean="0"/>
              <a:t>26-02-2026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B842523-AE6C-42D2-BB4D-DB96A79E1528}" type="slidenum">
              <a:rPr lang="en-IN" smtClean="0"/>
              <a:t>‹#›</a:t>
            </a:fld>
            <a:endParaRPr lang="en-IN"/>
          </a:p>
        </p:txBody>
      </p:sp>
    </p:spTree>
    <p:extLst>
      <p:ext uri="{BB962C8B-B14F-4D97-AF65-F5344CB8AC3E}">
        <p14:creationId xmlns:p14="http://schemas.microsoft.com/office/powerpoint/2010/main" val="16462633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83F5ED-1524-444B-B380-894D254A3A25}" type="datetimeFigureOut">
              <a:rPr lang="en-IN" smtClean="0"/>
              <a:t>26-02-2026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B842523-AE6C-42D2-BB4D-DB96A79E1528}" type="slidenum">
              <a:rPr lang="en-IN" smtClean="0"/>
              <a:t>‹#›</a:t>
            </a:fld>
            <a:endParaRPr lang="en-IN"/>
          </a:p>
        </p:txBody>
      </p:sp>
    </p:spTree>
    <p:extLst>
      <p:ext uri="{BB962C8B-B14F-4D97-AF65-F5344CB8AC3E}">
        <p14:creationId xmlns:p14="http://schemas.microsoft.com/office/powerpoint/2010/main" val="4759526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83F5ED-1524-444B-B380-894D254A3A25}" type="datetimeFigureOut">
              <a:rPr lang="en-IN" smtClean="0"/>
              <a:t>26-02-2026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B842523-AE6C-42D2-BB4D-DB96A79E1528}" type="slidenum">
              <a:rPr lang="en-IN" smtClean="0"/>
              <a:t>‹#›</a:t>
            </a:fld>
            <a:endParaRPr lang="en-IN"/>
          </a:p>
        </p:txBody>
      </p:sp>
    </p:spTree>
    <p:extLst>
      <p:ext uri="{BB962C8B-B14F-4D97-AF65-F5344CB8AC3E}">
        <p14:creationId xmlns:p14="http://schemas.microsoft.com/office/powerpoint/2010/main" val="41893417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583F5ED-1524-444B-B380-894D254A3A25}" type="datetimeFigureOut">
              <a:rPr lang="en-IN" smtClean="0"/>
              <a:t>26-02-2026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B842523-AE6C-42D2-BB4D-DB96A79E1528}" type="slidenum">
              <a:rPr lang="en-IN" smtClean="0"/>
              <a:t>‹#›</a:t>
            </a:fld>
            <a:endParaRPr lang="en-IN"/>
          </a:p>
        </p:txBody>
      </p:sp>
    </p:spTree>
    <p:extLst>
      <p:ext uri="{BB962C8B-B14F-4D97-AF65-F5344CB8AC3E}">
        <p14:creationId xmlns:p14="http://schemas.microsoft.com/office/powerpoint/2010/main" val="14940871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1.png"/><Relationship Id="rId7" Type="http://schemas.openxmlformats.org/officeDocument/2006/relationships/image" Target="../media/image8.png"/><Relationship Id="rId12" Type="http://schemas.microsoft.com/office/2007/relationships/hdphoto" Target="../media/hdphoto4.wdp"/><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microsoft.com/office/2007/relationships/hdphoto" Target="../media/hdphoto1.wdp"/><Relationship Id="rId11" Type="http://schemas.openxmlformats.org/officeDocument/2006/relationships/image" Target="../media/image10.png"/><Relationship Id="rId5" Type="http://schemas.openxmlformats.org/officeDocument/2006/relationships/image" Target="../media/image7.png"/><Relationship Id="rId10" Type="http://schemas.microsoft.com/office/2007/relationships/hdphoto" Target="../media/hdphoto3.wdp"/><Relationship Id="rId4" Type="http://schemas.openxmlformats.org/officeDocument/2006/relationships/image" Target="../media/image4.png"/><Relationship Id="rId9"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20E4C21-7D21-F672-C15D-6900C92AB5FD}"/>
              </a:ext>
            </a:extLst>
          </p:cNvPr>
          <p:cNvPicPr>
            <a:picLocks noChangeAspect="1"/>
          </p:cNvPicPr>
          <p:nvPr/>
        </p:nvPicPr>
        <p:blipFill>
          <a:blip r:embed="rId3">
            <a:alphaModFix amt="70000"/>
            <a:extLst>
              <a:ext uri="{28A0092B-C50C-407E-A947-70E740481C1C}">
                <a14:useLocalDpi xmlns:a14="http://schemas.microsoft.com/office/drawing/2010/main" val="0"/>
              </a:ext>
            </a:extLst>
          </a:blip>
          <a:stretch>
            <a:fillRect/>
          </a:stretch>
        </p:blipFill>
        <p:spPr>
          <a:xfrm>
            <a:off x="0" y="29496"/>
            <a:ext cx="12192000" cy="6858000"/>
          </a:xfrm>
          <a:prstGeom prst="rect">
            <a:avLst/>
          </a:prstGeom>
        </p:spPr>
      </p:pic>
      <p:sp>
        <p:nvSpPr>
          <p:cNvPr id="2" name="Title 1">
            <a:extLst>
              <a:ext uri="{FF2B5EF4-FFF2-40B4-BE49-F238E27FC236}">
                <a16:creationId xmlns:a16="http://schemas.microsoft.com/office/drawing/2014/main" id="{C24DB98B-96AC-9330-0744-4070B3FCFB1D}"/>
              </a:ext>
            </a:extLst>
          </p:cNvPr>
          <p:cNvSpPr>
            <a:spLocks noGrp="1"/>
          </p:cNvSpPr>
          <p:nvPr>
            <p:ph type="title"/>
          </p:nvPr>
        </p:nvSpPr>
        <p:spPr>
          <a:xfrm>
            <a:off x="0" y="304801"/>
            <a:ext cx="10596716" cy="1385888"/>
          </a:xfrm>
        </p:spPr>
        <p:txBody>
          <a:bodyPr/>
          <a:lstStyle/>
          <a:p>
            <a:r>
              <a:rPr lang="en-IN" b="1" dirty="0"/>
              <a:t>Introduction </a:t>
            </a:r>
          </a:p>
        </p:txBody>
      </p:sp>
      <p:sp>
        <p:nvSpPr>
          <p:cNvPr id="4" name="TextBox 3">
            <a:extLst>
              <a:ext uri="{FF2B5EF4-FFF2-40B4-BE49-F238E27FC236}">
                <a16:creationId xmlns:a16="http://schemas.microsoft.com/office/drawing/2014/main" id="{778F7DC6-4B66-A198-A90C-A14B86F2FC22}"/>
              </a:ext>
            </a:extLst>
          </p:cNvPr>
          <p:cNvSpPr txBox="1"/>
          <p:nvPr/>
        </p:nvSpPr>
        <p:spPr>
          <a:xfrm>
            <a:off x="0" y="1840702"/>
            <a:ext cx="6096000" cy="1323439"/>
          </a:xfrm>
          <a:prstGeom prst="rect">
            <a:avLst/>
          </a:prstGeom>
          <a:noFill/>
        </p:spPr>
        <p:txBody>
          <a:bodyPr wrap="square" rtlCol="0">
            <a:spAutoFit/>
          </a:bodyPr>
          <a:lstStyle/>
          <a:p>
            <a:r>
              <a:rPr lang="en-IN" sz="2000" dirty="0"/>
              <a:t>The Indian used car market has witnessed significant growth in recent years, driven by rising disposable incomes, increasing digital adoption , and evolving consumer buying behaviour.</a:t>
            </a:r>
          </a:p>
        </p:txBody>
      </p:sp>
      <p:sp>
        <p:nvSpPr>
          <p:cNvPr id="5" name="TextBox 4">
            <a:extLst>
              <a:ext uri="{FF2B5EF4-FFF2-40B4-BE49-F238E27FC236}">
                <a16:creationId xmlns:a16="http://schemas.microsoft.com/office/drawing/2014/main" id="{D23D431C-BE41-DED1-3935-F4194256E3C5}"/>
              </a:ext>
            </a:extLst>
          </p:cNvPr>
          <p:cNvSpPr txBox="1"/>
          <p:nvPr/>
        </p:nvSpPr>
        <p:spPr>
          <a:xfrm>
            <a:off x="0" y="4433313"/>
            <a:ext cx="10057433" cy="707886"/>
          </a:xfrm>
          <a:prstGeom prst="rect">
            <a:avLst/>
          </a:prstGeom>
          <a:noFill/>
        </p:spPr>
        <p:txBody>
          <a:bodyPr wrap="none" rtlCol="0">
            <a:spAutoFit/>
          </a:bodyPr>
          <a:lstStyle/>
          <a:p>
            <a:r>
              <a:rPr lang="en-IN" sz="2000" b="1" dirty="0"/>
              <a:t>Research Objectives </a:t>
            </a:r>
          </a:p>
          <a:p>
            <a:r>
              <a:rPr lang="en-IN" sz="2000" dirty="0"/>
              <a:t>Analysed growth pattern, regional demand, customer personas and Key Trend.                        </a:t>
            </a:r>
          </a:p>
        </p:txBody>
      </p:sp>
      <p:pic>
        <p:nvPicPr>
          <p:cNvPr id="14" name="Picture 13">
            <a:extLst>
              <a:ext uri="{FF2B5EF4-FFF2-40B4-BE49-F238E27FC236}">
                <a16:creationId xmlns:a16="http://schemas.microsoft.com/office/drawing/2014/main" id="{4D772F80-804B-B42A-F728-24CD56004F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53603" y="538606"/>
            <a:ext cx="8043402" cy="5555454"/>
          </a:xfrm>
          <a:prstGeom prst="rect">
            <a:avLst/>
          </a:prstGeom>
        </p:spPr>
      </p:pic>
      <p:sp>
        <p:nvSpPr>
          <p:cNvPr id="15" name="TextBox 14">
            <a:extLst>
              <a:ext uri="{FF2B5EF4-FFF2-40B4-BE49-F238E27FC236}">
                <a16:creationId xmlns:a16="http://schemas.microsoft.com/office/drawing/2014/main" id="{14443DE8-6A78-F5AF-86C7-060DA8370721}"/>
              </a:ext>
            </a:extLst>
          </p:cNvPr>
          <p:cNvSpPr txBox="1"/>
          <p:nvPr/>
        </p:nvSpPr>
        <p:spPr>
          <a:xfrm>
            <a:off x="7605318" y="5801032"/>
            <a:ext cx="4339971" cy="461665"/>
          </a:xfrm>
          <a:prstGeom prst="rect">
            <a:avLst/>
          </a:prstGeom>
          <a:noFill/>
        </p:spPr>
        <p:txBody>
          <a:bodyPr wrap="none" rtlCol="0">
            <a:spAutoFit/>
          </a:bodyPr>
          <a:lstStyle/>
          <a:p>
            <a:r>
              <a:rPr lang="en-IN" sz="2400" b="1" dirty="0"/>
              <a:t>Prepared By – Bhavishya Bisht</a:t>
            </a:r>
          </a:p>
        </p:txBody>
      </p:sp>
    </p:spTree>
    <p:extLst>
      <p:ext uri="{BB962C8B-B14F-4D97-AF65-F5344CB8AC3E}">
        <p14:creationId xmlns:p14="http://schemas.microsoft.com/office/powerpoint/2010/main" val="20273629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0D9B9-D9AA-1A89-84DA-796684F0CE5F}"/>
              </a:ext>
            </a:extLst>
          </p:cNvPr>
          <p:cNvSpPr>
            <a:spLocks noGrp="1"/>
          </p:cNvSpPr>
          <p:nvPr>
            <p:ph type="ctrTitle"/>
          </p:nvPr>
        </p:nvSpPr>
        <p:spPr>
          <a:xfrm>
            <a:off x="251122" y="353962"/>
            <a:ext cx="6331974" cy="757084"/>
          </a:xfrm>
        </p:spPr>
        <p:txBody>
          <a:bodyPr anchor="t" anchorCtr="0">
            <a:noAutofit/>
          </a:bodyPr>
          <a:lstStyle/>
          <a:p>
            <a:pPr algn="l"/>
            <a:r>
              <a:rPr lang="en-IN" sz="4000" b="1" dirty="0"/>
              <a:t>India Used Car Market</a:t>
            </a:r>
          </a:p>
        </p:txBody>
      </p:sp>
      <p:sp>
        <p:nvSpPr>
          <p:cNvPr id="3" name="Subtitle 2">
            <a:extLst>
              <a:ext uri="{FF2B5EF4-FFF2-40B4-BE49-F238E27FC236}">
                <a16:creationId xmlns:a16="http://schemas.microsoft.com/office/drawing/2014/main" id="{32C2CAAA-1507-3C00-20DF-18A63E04CC68}"/>
              </a:ext>
            </a:extLst>
          </p:cNvPr>
          <p:cNvSpPr>
            <a:spLocks noGrp="1"/>
          </p:cNvSpPr>
          <p:nvPr>
            <p:ph type="subTitle" idx="1"/>
          </p:nvPr>
        </p:nvSpPr>
        <p:spPr>
          <a:xfrm>
            <a:off x="251122" y="1630602"/>
            <a:ext cx="6641292" cy="1576270"/>
          </a:xfrm>
        </p:spPr>
        <p:txBody>
          <a:bodyPr>
            <a:noAutofit/>
          </a:bodyPr>
          <a:lstStyle/>
          <a:p>
            <a:pPr algn="just"/>
            <a:r>
              <a:rPr lang="en-IN" sz="1800" dirty="0"/>
              <a:t>The India used car market is valued at </a:t>
            </a:r>
            <a:r>
              <a:rPr lang="en-IN" sz="1800" b="1" dirty="0"/>
              <a:t>USD71.74 BILLION IN 2026</a:t>
            </a:r>
            <a:r>
              <a:rPr lang="en-IN" sz="1800" dirty="0"/>
              <a:t>. The market is experiencing a significant shift from a fragmented, unorganised sector to a more structured ecosystem, with sales volumes projected to surpass </a:t>
            </a:r>
            <a:r>
              <a:rPr lang="en-IN" sz="1800" b="1" dirty="0"/>
              <a:t>6 million units </a:t>
            </a:r>
            <a:r>
              <a:rPr lang="en-IN" sz="1800" dirty="0"/>
              <a:t>in </a:t>
            </a:r>
            <a:r>
              <a:rPr lang="en-IN" sz="1800" b="1" dirty="0"/>
              <a:t>FY2026</a:t>
            </a:r>
            <a:r>
              <a:rPr lang="en-IN" sz="1800" dirty="0"/>
              <a:t>.</a:t>
            </a:r>
          </a:p>
        </p:txBody>
      </p:sp>
      <p:sp>
        <p:nvSpPr>
          <p:cNvPr id="7" name="TextBox 6">
            <a:extLst>
              <a:ext uri="{FF2B5EF4-FFF2-40B4-BE49-F238E27FC236}">
                <a16:creationId xmlns:a16="http://schemas.microsoft.com/office/drawing/2014/main" id="{8395084A-0338-7D0B-9197-6864102AC299}"/>
              </a:ext>
            </a:extLst>
          </p:cNvPr>
          <p:cNvSpPr txBox="1"/>
          <p:nvPr/>
        </p:nvSpPr>
        <p:spPr>
          <a:xfrm>
            <a:off x="251122" y="3508561"/>
            <a:ext cx="6778944" cy="923330"/>
          </a:xfrm>
          <a:prstGeom prst="rect">
            <a:avLst/>
          </a:prstGeom>
          <a:noFill/>
        </p:spPr>
        <p:txBody>
          <a:bodyPr wrap="square" rtlCol="0">
            <a:spAutoFit/>
          </a:bodyPr>
          <a:lstStyle/>
          <a:p>
            <a:pPr algn="just"/>
            <a:r>
              <a:rPr lang="en-IN" dirty="0"/>
              <a:t>The growth of the used car market in India is being driven by increasing digital adoption rising new car prices, and growing consumer preference for value-for-money mobility solutions .</a:t>
            </a:r>
          </a:p>
        </p:txBody>
      </p:sp>
      <p:sp>
        <p:nvSpPr>
          <p:cNvPr id="8" name="TextBox 7">
            <a:extLst>
              <a:ext uri="{FF2B5EF4-FFF2-40B4-BE49-F238E27FC236}">
                <a16:creationId xmlns:a16="http://schemas.microsoft.com/office/drawing/2014/main" id="{D663EB7A-BFD0-064A-86D8-60861B6B4253}"/>
              </a:ext>
            </a:extLst>
          </p:cNvPr>
          <p:cNvSpPr txBox="1"/>
          <p:nvPr/>
        </p:nvSpPr>
        <p:spPr>
          <a:xfrm>
            <a:off x="251122" y="5201265"/>
            <a:ext cx="6641292" cy="1526489"/>
          </a:xfrm>
          <a:prstGeom prst="rect">
            <a:avLst/>
          </a:prstGeom>
          <a:noFill/>
        </p:spPr>
        <p:txBody>
          <a:bodyPr wrap="square" rtlCol="0">
            <a:spAutoFit/>
          </a:bodyPr>
          <a:lstStyle/>
          <a:p>
            <a:pPr algn="just"/>
            <a:r>
              <a:rPr lang="en-IN" dirty="0"/>
              <a:t>Online platforms such as CARS24 and other organized players have improved price transparency, vehicle inspection standards, and financing availability, making used car purchases more trustworthy and convenient for buyers across tier-1 and tier-2 cities.</a:t>
            </a:r>
          </a:p>
        </p:txBody>
      </p:sp>
      <p:pic>
        <p:nvPicPr>
          <p:cNvPr id="10" name="Picture 9">
            <a:extLst>
              <a:ext uri="{FF2B5EF4-FFF2-40B4-BE49-F238E27FC236}">
                <a16:creationId xmlns:a16="http://schemas.microsoft.com/office/drawing/2014/main" id="{97E532BB-1D6F-A724-5D65-48FB868771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30065" y="0"/>
            <a:ext cx="5053780" cy="6845143"/>
          </a:xfrm>
          <a:prstGeom prst="rect">
            <a:avLst/>
          </a:prstGeom>
        </p:spPr>
      </p:pic>
      <p:pic>
        <p:nvPicPr>
          <p:cNvPr id="12" name="Picture 11">
            <a:extLst>
              <a:ext uri="{FF2B5EF4-FFF2-40B4-BE49-F238E27FC236}">
                <a16:creationId xmlns:a16="http://schemas.microsoft.com/office/drawing/2014/main" id="{E95826F9-D558-C677-3233-B6037DACF375}"/>
              </a:ext>
            </a:extLst>
          </p:cNvPr>
          <p:cNvPicPr>
            <a:picLocks noChangeAspect="1"/>
          </p:cNvPicPr>
          <p:nvPr/>
        </p:nvPicPr>
        <p:blipFill>
          <a:blip r:embed="rId3">
            <a:alphaModFix amt="39000"/>
            <a:extLst>
              <a:ext uri="{28A0092B-C50C-407E-A947-70E740481C1C}">
                <a14:useLocalDpi xmlns:a14="http://schemas.microsoft.com/office/drawing/2010/main" val="0"/>
              </a:ext>
            </a:extLst>
          </a:blip>
          <a:stretch>
            <a:fillRect/>
          </a:stretch>
        </p:blipFill>
        <p:spPr>
          <a:xfrm>
            <a:off x="5466737" y="-49160"/>
            <a:ext cx="1563328" cy="1563328"/>
          </a:xfrm>
          <a:prstGeom prst="rect">
            <a:avLst/>
          </a:prstGeom>
        </p:spPr>
      </p:pic>
    </p:spTree>
    <p:extLst>
      <p:ext uri="{BB962C8B-B14F-4D97-AF65-F5344CB8AC3E}">
        <p14:creationId xmlns:p14="http://schemas.microsoft.com/office/powerpoint/2010/main" val="11738752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B4EA9-E514-914C-8D19-4A77C1661E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04DA88-3E0F-2634-FAFA-449A1EBDE0D4}"/>
              </a:ext>
            </a:extLst>
          </p:cNvPr>
          <p:cNvSpPr>
            <a:spLocks noGrp="1"/>
          </p:cNvSpPr>
          <p:nvPr>
            <p:ph type="ctrTitle"/>
          </p:nvPr>
        </p:nvSpPr>
        <p:spPr>
          <a:xfrm>
            <a:off x="108156" y="0"/>
            <a:ext cx="5358582" cy="1120877"/>
          </a:xfrm>
        </p:spPr>
        <p:txBody>
          <a:bodyPr anchor="t" anchorCtr="0">
            <a:noAutofit/>
          </a:bodyPr>
          <a:lstStyle/>
          <a:p>
            <a:pPr algn="l"/>
            <a:r>
              <a:rPr lang="en-IN" sz="4000" b="1" dirty="0"/>
              <a:t>India Used Car Market</a:t>
            </a:r>
            <a:br>
              <a:rPr lang="en-IN" sz="4000" b="1" dirty="0"/>
            </a:br>
            <a:r>
              <a:rPr lang="en-IN" sz="4000" b="1" dirty="0"/>
              <a:t>Growth Drivers:</a:t>
            </a:r>
          </a:p>
        </p:txBody>
      </p:sp>
      <p:pic>
        <p:nvPicPr>
          <p:cNvPr id="12" name="Picture 11">
            <a:extLst>
              <a:ext uri="{FF2B5EF4-FFF2-40B4-BE49-F238E27FC236}">
                <a16:creationId xmlns:a16="http://schemas.microsoft.com/office/drawing/2014/main" id="{E7750741-344F-EF35-9D5C-94654187F7A4}"/>
              </a:ext>
            </a:extLst>
          </p:cNvPr>
          <p:cNvPicPr>
            <a:picLocks noChangeAspect="1"/>
          </p:cNvPicPr>
          <p:nvPr/>
        </p:nvPicPr>
        <p:blipFill>
          <a:blip r:embed="rId2">
            <a:alphaModFix amt="39000"/>
            <a:extLst>
              <a:ext uri="{28A0092B-C50C-407E-A947-70E740481C1C}">
                <a14:useLocalDpi xmlns:a14="http://schemas.microsoft.com/office/drawing/2010/main" val="0"/>
              </a:ext>
            </a:extLst>
          </a:blip>
          <a:stretch>
            <a:fillRect/>
          </a:stretch>
        </p:blipFill>
        <p:spPr>
          <a:xfrm>
            <a:off x="5073449" y="-78658"/>
            <a:ext cx="1278191" cy="1278191"/>
          </a:xfrm>
          <a:prstGeom prst="rect">
            <a:avLst/>
          </a:prstGeom>
        </p:spPr>
      </p:pic>
      <p:sp>
        <p:nvSpPr>
          <p:cNvPr id="4" name="TextBox 3">
            <a:extLst>
              <a:ext uri="{FF2B5EF4-FFF2-40B4-BE49-F238E27FC236}">
                <a16:creationId xmlns:a16="http://schemas.microsoft.com/office/drawing/2014/main" id="{07DA745F-0BFB-BD27-C853-750B0BBA328E}"/>
              </a:ext>
            </a:extLst>
          </p:cNvPr>
          <p:cNvSpPr txBox="1"/>
          <p:nvPr/>
        </p:nvSpPr>
        <p:spPr>
          <a:xfrm>
            <a:off x="68824" y="1342102"/>
            <a:ext cx="6096001" cy="2516073"/>
          </a:xfrm>
          <a:prstGeom prst="rect">
            <a:avLst/>
          </a:prstGeom>
          <a:noFill/>
        </p:spPr>
        <p:txBody>
          <a:bodyPr wrap="square" rtlCol="0">
            <a:spAutoFit/>
          </a:bodyPr>
          <a:lstStyle/>
          <a:p>
            <a:pPr algn="just"/>
            <a:r>
              <a:rPr lang="en-IN" sz="1750" b="1" i="1" dirty="0"/>
              <a:t>Growing Organisational of the regional industry will generate more confidence among new used cars buyers</a:t>
            </a:r>
          </a:p>
          <a:p>
            <a:pPr algn="just"/>
            <a:r>
              <a:rPr lang="en-IN" sz="1750" dirty="0"/>
              <a:t>The  Indian used car market was historically unorganized, with unclear transaction policies and low consumer awareness. To improve transparency, the Ministry of Road Transport and Highways introduced the central Motor Vehicles Rules, 2022, Under  the new Framework, dealers must obtain state authorization and are considered the vehicle owners until the final sale to the consumer </a:t>
            </a:r>
          </a:p>
        </p:txBody>
      </p:sp>
      <p:sp>
        <p:nvSpPr>
          <p:cNvPr id="5" name="TextBox 4">
            <a:extLst>
              <a:ext uri="{FF2B5EF4-FFF2-40B4-BE49-F238E27FC236}">
                <a16:creationId xmlns:a16="http://schemas.microsoft.com/office/drawing/2014/main" id="{F9798918-E8F9-760B-9F25-3A1246BEF613}"/>
              </a:ext>
            </a:extLst>
          </p:cNvPr>
          <p:cNvSpPr txBox="1"/>
          <p:nvPr/>
        </p:nvSpPr>
        <p:spPr>
          <a:xfrm>
            <a:off x="108156" y="4168878"/>
            <a:ext cx="6056669" cy="3054682"/>
          </a:xfrm>
          <a:prstGeom prst="rect">
            <a:avLst/>
          </a:prstGeom>
          <a:noFill/>
        </p:spPr>
        <p:txBody>
          <a:bodyPr wrap="square" rtlCol="0">
            <a:spAutoFit/>
          </a:bodyPr>
          <a:lstStyle/>
          <a:p>
            <a:pPr algn="just"/>
            <a:r>
              <a:rPr lang="en-IN" sz="1750" b="1" i="1" dirty="0"/>
              <a:t>Changing consumer preference and buying patterns to positively impact the growth market rate </a:t>
            </a:r>
          </a:p>
          <a:p>
            <a:pPr algn="just"/>
            <a:r>
              <a:rPr lang="en-IN" sz="1750" dirty="0"/>
              <a:t>The Indian use car market is growing due to rising disposable income and changing consumer buying behaviour. Consumers are increasingly upgrading vehicles more frequently, making more pre-owned cars a cost-effective option . The new-to-used car ratio has shifted from 1:1.21 to 1:1.12, while the average vehicle holding period has reduced to about 3.1 years , highlighting the increasing popularity of used cars. </a:t>
            </a:r>
          </a:p>
          <a:p>
            <a:pPr algn="just"/>
            <a:endParaRPr lang="en-IN" sz="1750" dirty="0"/>
          </a:p>
        </p:txBody>
      </p:sp>
      <p:pic>
        <p:nvPicPr>
          <p:cNvPr id="13" name="Picture 12">
            <a:extLst>
              <a:ext uri="{FF2B5EF4-FFF2-40B4-BE49-F238E27FC236}">
                <a16:creationId xmlns:a16="http://schemas.microsoft.com/office/drawing/2014/main" id="{5E56D25B-5BF2-ABBA-68B8-9B3C18DDE5E0}"/>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6410632" y="1"/>
            <a:ext cx="5781368" cy="6857999"/>
          </a:xfrm>
          <a:prstGeom prst="rect">
            <a:avLst/>
          </a:prstGeom>
        </p:spPr>
      </p:pic>
    </p:spTree>
    <p:extLst>
      <p:ext uri="{BB962C8B-B14F-4D97-AF65-F5344CB8AC3E}">
        <p14:creationId xmlns:p14="http://schemas.microsoft.com/office/powerpoint/2010/main" val="37956624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5D8F8FA-90CE-388E-7D4C-557E56AEC353}"/>
              </a:ext>
            </a:extLst>
          </p:cNvPr>
          <p:cNvPicPr>
            <a:picLocks noChangeAspect="1"/>
          </p:cNvPicPr>
          <p:nvPr/>
        </p:nvPicPr>
        <p:blipFill>
          <a:blip r:embed="rId2">
            <a:alphaModFix/>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Rectangle 6">
            <a:extLst>
              <a:ext uri="{FF2B5EF4-FFF2-40B4-BE49-F238E27FC236}">
                <a16:creationId xmlns:a16="http://schemas.microsoft.com/office/drawing/2014/main" id="{66C638F3-F7BE-C862-36DA-89C7696036BA}"/>
              </a:ext>
            </a:extLst>
          </p:cNvPr>
          <p:cNvSpPr/>
          <p:nvPr/>
        </p:nvSpPr>
        <p:spPr>
          <a:xfrm>
            <a:off x="838200" y="1573161"/>
            <a:ext cx="10901516" cy="4513007"/>
          </a:xfrm>
          <a:prstGeom prst="rect">
            <a:avLst/>
          </a:prstGeom>
          <a:solidFill>
            <a:schemeClr val="lt1">
              <a:alpha val="44000"/>
            </a:schemeClr>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2" name="Title 1">
            <a:extLst>
              <a:ext uri="{FF2B5EF4-FFF2-40B4-BE49-F238E27FC236}">
                <a16:creationId xmlns:a16="http://schemas.microsoft.com/office/drawing/2014/main" id="{328D6049-004E-376F-ED94-32D4939568E1}"/>
              </a:ext>
            </a:extLst>
          </p:cNvPr>
          <p:cNvSpPr>
            <a:spLocks noGrp="1"/>
          </p:cNvSpPr>
          <p:nvPr>
            <p:ph type="title"/>
          </p:nvPr>
        </p:nvSpPr>
        <p:spPr/>
        <p:txBody>
          <a:bodyPr/>
          <a:lstStyle/>
          <a:p>
            <a:r>
              <a:rPr lang="en-IN" b="1" dirty="0"/>
              <a:t>India Used Car Market :Opportunities </a:t>
            </a:r>
          </a:p>
        </p:txBody>
      </p:sp>
      <p:sp>
        <p:nvSpPr>
          <p:cNvPr id="3" name="Content Placeholder 2">
            <a:extLst>
              <a:ext uri="{FF2B5EF4-FFF2-40B4-BE49-F238E27FC236}">
                <a16:creationId xmlns:a16="http://schemas.microsoft.com/office/drawing/2014/main" id="{443B5314-992C-E54E-0D6C-290A3B4C1785}"/>
              </a:ext>
            </a:extLst>
          </p:cNvPr>
          <p:cNvSpPr>
            <a:spLocks noGrp="1"/>
          </p:cNvSpPr>
          <p:nvPr>
            <p:ph sz="half" idx="1"/>
          </p:nvPr>
        </p:nvSpPr>
        <p:spPr>
          <a:xfrm>
            <a:off x="838200" y="1825624"/>
            <a:ext cx="10026446" cy="4260544"/>
          </a:xfrm>
        </p:spPr>
        <p:txBody>
          <a:bodyPr>
            <a:normAutofit/>
          </a:bodyPr>
          <a:lstStyle/>
          <a:p>
            <a:pPr algn="just"/>
            <a:r>
              <a:rPr lang="en-IN" sz="1800" dirty="0"/>
              <a:t>A key untapped opportunity in India’s second-hand car market lies in rural  and  non-metro area. Demand for personal mobility is constantly rising in these areas, backed by limited availability of public transport, improving rural incomes, and the development of road infrastructure, The supply of good-quality second-hand cars, however, remains heavily concentrated in tier-1 and metro cities, creating a geographic mismatch.</a:t>
            </a:r>
          </a:p>
          <a:p>
            <a:pPr algn="just"/>
            <a:endParaRPr lang="en-IN" sz="1800" dirty="0"/>
          </a:p>
          <a:p>
            <a:pPr algn="just"/>
            <a:r>
              <a:rPr lang="en-IN" sz="1800" dirty="0"/>
              <a:t>It is further creating a compelling case for organized companies to extend their logistics networks and physical presence into non-metro areas. It will likely provide easy access to after-sales support financing options, and certified vehicles. Companies such as Spinny have already initiated pilot operations in small towns across Madhya Pradesh and Uttar Pradesh. Such strategies not only deliver a high-growth frontier for companies seeking to scale in a largely  underserved market but also promise to bridge the supply-demand gap.</a:t>
            </a:r>
          </a:p>
        </p:txBody>
      </p:sp>
      <p:pic>
        <p:nvPicPr>
          <p:cNvPr id="5" name="Picture 4">
            <a:extLst>
              <a:ext uri="{FF2B5EF4-FFF2-40B4-BE49-F238E27FC236}">
                <a16:creationId xmlns:a16="http://schemas.microsoft.com/office/drawing/2014/main" id="{8731EC5C-7976-50C1-E4E4-7B7213A30EFE}"/>
              </a:ext>
            </a:extLst>
          </p:cNvPr>
          <p:cNvPicPr>
            <a:picLocks noChangeAspect="1"/>
          </p:cNvPicPr>
          <p:nvPr/>
        </p:nvPicPr>
        <p:blipFill>
          <a:blip r:embed="rId3">
            <a:alphaModFix amt="39000"/>
            <a:extLst>
              <a:ext uri="{28A0092B-C50C-407E-A947-70E740481C1C}">
                <a14:useLocalDpi xmlns:a14="http://schemas.microsoft.com/office/drawing/2010/main" val="0"/>
              </a:ext>
            </a:extLst>
          </a:blip>
          <a:stretch>
            <a:fillRect/>
          </a:stretch>
        </p:blipFill>
        <p:spPr>
          <a:xfrm>
            <a:off x="9957620" y="294508"/>
            <a:ext cx="1396180" cy="1396180"/>
          </a:xfrm>
          <a:prstGeom prst="rect">
            <a:avLst/>
          </a:prstGeom>
        </p:spPr>
      </p:pic>
    </p:spTree>
    <p:extLst>
      <p:ext uri="{BB962C8B-B14F-4D97-AF65-F5344CB8AC3E}">
        <p14:creationId xmlns:p14="http://schemas.microsoft.com/office/powerpoint/2010/main" val="3423879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00C21-08F1-E0AB-7ECC-C0D4E056DA94}"/>
              </a:ext>
            </a:extLst>
          </p:cNvPr>
          <p:cNvSpPr>
            <a:spLocks noGrp="1"/>
          </p:cNvSpPr>
          <p:nvPr>
            <p:ph type="title"/>
          </p:nvPr>
        </p:nvSpPr>
        <p:spPr>
          <a:xfrm>
            <a:off x="-12289" y="137652"/>
            <a:ext cx="5801032" cy="1061883"/>
          </a:xfrm>
        </p:spPr>
        <p:txBody>
          <a:bodyPr anchor="t" anchorCtr="0">
            <a:noAutofit/>
          </a:bodyPr>
          <a:lstStyle/>
          <a:p>
            <a:r>
              <a:rPr lang="en-IN" sz="3800" b="1" dirty="0"/>
              <a:t>India Used Car market : Segmentation </a:t>
            </a:r>
          </a:p>
        </p:txBody>
      </p:sp>
      <p:sp>
        <p:nvSpPr>
          <p:cNvPr id="5" name="TextBox 4">
            <a:extLst>
              <a:ext uri="{FF2B5EF4-FFF2-40B4-BE49-F238E27FC236}">
                <a16:creationId xmlns:a16="http://schemas.microsoft.com/office/drawing/2014/main" id="{E30C9316-A2C1-8327-D4B8-B0E81D071BE8}"/>
              </a:ext>
            </a:extLst>
          </p:cNvPr>
          <p:cNvSpPr txBox="1"/>
          <p:nvPr/>
        </p:nvSpPr>
        <p:spPr>
          <a:xfrm>
            <a:off x="-12289" y="1924214"/>
            <a:ext cx="5466737" cy="1569660"/>
          </a:xfrm>
          <a:prstGeom prst="rect">
            <a:avLst/>
          </a:prstGeom>
          <a:noFill/>
        </p:spPr>
        <p:txBody>
          <a:bodyPr wrap="square" rtlCol="0">
            <a:spAutoFit/>
          </a:bodyPr>
          <a:lstStyle/>
          <a:p>
            <a:pPr algn="just"/>
            <a:r>
              <a:rPr lang="en-IN" sz="1600" dirty="0"/>
              <a:t>The India used Car market is segmented based on type of vehicle mode of service , and region .</a:t>
            </a:r>
          </a:p>
          <a:p>
            <a:pPr algn="just"/>
            <a:endParaRPr lang="en-IN" sz="1600" dirty="0"/>
          </a:p>
          <a:p>
            <a:pPr algn="just"/>
            <a:r>
              <a:rPr lang="en-IN" sz="1600" dirty="0"/>
              <a:t>Based on the type of vehicle, the regional market segments are sports utility vehicles(SUV), passenger vehicles, Electric Vehicles(EV), luxury vehicles, and others.</a:t>
            </a:r>
          </a:p>
        </p:txBody>
      </p:sp>
      <p:sp>
        <p:nvSpPr>
          <p:cNvPr id="6" name="TextBox 5">
            <a:extLst>
              <a:ext uri="{FF2B5EF4-FFF2-40B4-BE49-F238E27FC236}">
                <a16:creationId xmlns:a16="http://schemas.microsoft.com/office/drawing/2014/main" id="{ED829C52-51CA-9852-33FF-4C28D63293A9}"/>
              </a:ext>
            </a:extLst>
          </p:cNvPr>
          <p:cNvSpPr txBox="1"/>
          <p:nvPr/>
        </p:nvSpPr>
        <p:spPr>
          <a:xfrm>
            <a:off x="0" y="4218553"/>
            <a:ext cx="5801033" cy="1815882"/>
          </a:xfrm>
          <a:prstGeom prst="rect">
            <a:avLst/>
          </a:prstGeom>
          <a:noFill/>
        </p:spPr>
        <p:txBody>
          <a:bodyPr wrap="square" rtlCol="0" anchor="t" anchorCtr="0">
            <a:spAutoFit/>
          </a:bodyPr>
          <a:lstStyle/>
          <a:p>
            <a:pPr algn="just"/>
            <a:r>
              <a:rPr lang="en-IN" sz="1600" dirty="0"/>
              <a:t>In 2023, the highest demand was observed In the passenger vehicle segment. The growth rate is a result of higher demand for vehicles in urban areas for small families . As of 2024, more than 45 lakh people in the city of Mumbai owned a private vehicle. The luxury vehicle sector has been growing at a rapid pace. The surge In buyers wanting to experience driving luxury vehicles at affordable prices is fuelling the segmental demand.</a:t>
            </a:r>
          </a:p>
        </p:txBody>
      </p:sp>
      <p:pic>
        <p:nvPicPr>
          <p:cNvPr id="15" name="Picture 14">
            <a:extLst>
              <a:ext uri="{FF2B5EF4-FFF2-40B4-BE49-F238E27FC236}">
                <a16:creationId xmlns:a16="http://schemas.microsoft.com/office/drawing/2014/main" id="{FCBAAE66-3464-6548-0A77-57391F44B0E7}"/>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6027172" y="-11321"/>
            <a:ext cx="6164828" cy="6869321"/>
          </a:xfrm>
          <a:prstGeom prst="rect">
            <a:avLst/>
          </a:prstGeom>
        </p:spPr>
      </p:pic>
      <p:pic>
        <p:nvPicPr>
          <p:cNvPr id="16" name="Picture 15">
            <a:extLst>
              <a:ext uri="{FF2B5EF4-FFF2-40B4-BE49-F238E27FC236}">
                <a16:creationId xmlns:a16="http://schemas.microsoft.com/office/drawing/2014/main" id="{99353EF1-7A5D-96D4-F0BD-2DA449D95CE8}"/>
              </a:ext>
            </a:extLst>
          </p:cNvPr>
          <p:cNvPicPr>
            <a:picLocks noChangeAspect="1"/>
          </p:cNvPicPr>
          <p:nvPr/>
        </p:nvPicPr>
        <p:blipFill>
          <a:blip r:embed="rId3">
            <a:alphaModFix amt="39000"/>
            <a:extLst>
              <a:ext uri="{28A0092B-C50C-407E-A947-70E740481C1C}">
                <a14:useLocalDpi xmlns:a14="http://schemas.microsoft.com/office/drawing/2010/main" val="0"/>
              </a:ext>
            </a:extLst>
          </a:blip>
          <a:stretch>
            <a:fillRect/>
          </a:stretch>
        </p:blipFill>
        <p:spPr>
          <a:xfrm>
            <a:off x="4778478" y="137652"/>
            <a:ext cx="1317522" cy="1347019"/>
          </a:xfrm>
          <a:prstGeom prst="rect">
            <a:avLst/>
          </a:prstGeom>
        </p:spPr>
      </p:pic>
    </p:spTree>
    <p:extLst>
      <p:ext uri="{BB962C8B-B14F-4D97-AF65-F5344CB8AC3E}">
        <p14:creationId xmlns:p14="http://schemas.microsoft.com/office/powerpoint/2010/main" val="30367697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9F64C9-32AE-0EC9-EB4E-F2B349EC8FBE}"/>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1" y="0"/>
            <a:ext cx="12192000" cy="6858000"/>
          </a:xfrm>
          <a:prstGeom prst="rect">
            <a:avLst/>
          </a:prstGeom>
        </p:spPr>
      </p:pic>
      <p:sp>
        <p:nvSpPr>
          <p:cNvPr id="17" name="Rectangle: Rounded Corners 16">
            <a:extLst>
              <a:ext uri="{FF2B5EF4-FFF2-40B4-BE49-F238E27FC236}">
                <a16:creationId xmlns:a16="http://schemas.microsoft.com/office/drawing/2014/main" id="{0ADD4417-62C4-88EB-F8BA-17CA87EDCD88}"/>
              </a:ext>
            </a:extLst>
          </p:cNvPr>
          <p:cNvSpPr/>
          <p:nvPr/>
        </p:nvSpPr>
        <p:spPr>
          <a:xfrm>
            <a:off x="5978013" y="3996526"/>
            <a:ext cx="5375786" cy="2147126"/>
          </a:xfrm>
          <a:prstGeom prst="roundRect">
            <a:avLst/>
          </a:prstGeom>
          <a:solidFill>
            <a:schemeClr val="tx2">
              <a:lumMod val="10000"/>
              <a:lumOff val="90000"/>
              <a:alpha val="40000"/>
            </a:schemeClr>
          </a:solidFill>
          <a:ln>
            <a:solidFill>
              <a:schemeClr val="tx2">
                <a:lumMod val="50000"/>
                <a:lumOff val="50000"/>
                <a:alpha val="3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6E536B76-91FF-11A3-9804-A04605E05333}"/>
              </a:ext>
            </a:extLst>
          </p:cNvPr>
          <p:cNvSpPr/>
          <p:nvPr/>
        </p:nvSpPr>
        <p:spPr>
          <a:xfrm>
            <a:off x="530942" y="3988201"/>
            <a:ext cx="5270090" cy="2147127"/>
          </a:xfrm>
          <a:prstGeom prst="roundRect">
            <a:avLst/>
          </a:prstGeom>
          <a:solidFill>
            <a:schemeClr val="tx2">
              <a:lumMod val="10000"/>
              <a:lumOff val="90000"/>
              <a:alpha val="40000"/>
            </a:schemeClr>
          </a:solidFill>
          <a:ln>
            <a:solidFill>
              <a:schemeClr val="tx2">
                <a:lumMod val="50000"/>
                <a:lumOff val="50000"/>
                <a:alpha val="3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Rounded Corners 15">
            <a:extLst>
              <a:ext uri="{FF2B5EF4-FFF2-40B4-BE49-F238E27FC236}">
                <a16:creationId xmlns:a16="http://schemas.microsoft.com/office/drawing/2014/main" id="{6AE009B0-7DCB-85B8-1888-1D4EF628E92F}"/>
              </a:ext>
            </a:extLst>
          </p:cNvPr>
          <p:cNvSpPr/>
          <p:nvPr/>
        </p:nvSpPr>
        <p:spPr>
          <a:xfrm>
            <a:off x="5978013" y="1140879"/>
            <a:ext cx="5375786" cy="2703533"/>
          </a:xfrm>
          <a:prstGeom prst="roundRect">
            <a:avLst/>
          </a:prstGeom>
          <a:solidFill>
            <a:schemeClr val="tx2">
              <a:lumMod val="10000"/>
              <a:lumOff val="90000"/>
              <a:alpha val="40000"/>
            </a:schemeClr>
          </a:solidFill>
          <a:ln>
            <a:solidFill>
              <a:schemeClr val="tx2">
                <a:lumMod val="50000"/>
                <a:lumOff val="50000"/>
                <a:alpha val="3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Rounded Corners 14">
            <a:extLst>
              <a:ext uri="{FF2B5EF4-FFF2-40B4-BE49-F238E27FC236}">
                <a16:creationId xmlns:a16="http://schemas.microsoft.com/office/drawing/2014/main" id="{2B673075-C7C9-B058-BF85-5172525DCB80}"/>
              </a:ext>
            </a:extLst>
          </p:cNvPr>
          <p:cNvSpPr/>
          <p:nvPr/>
        </p:nvSpPr>
        <p:spPr>
          <a:xfrm>
            <a:off x="530942" y="1170040"/>
            <a:ext cx="5270090" cy="2674373"/>
          </a:xfrm>
          <a:prstGeom prst="roundRect">
            <a:avLst/>
          </a:prstGeom>
          <a:solidFill>
            <a:schemeClr val="tx2">
              <a:lumMod val="10000"/>
              <a:lumOff val="90000"/>
              <a:alpha val="40000"/>
            </a:schemeClr>
          </a:solidFill>
          <a:ln>
            <a:solidFill>
              <a:schemeClr val="tx2">
                <a:lumMod val="50000"/>
                <a:lumOff val="50000"/>
                <a:alpha val="33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itle 4">
            <a:extLst>
              <a:ext uri="{FF2B5EF4-FFF2-40B4-BE49-F238E27FC236}">
                <a16:creationId xmlns:a16="http://schemas.microsoft.com/office/drawing/2014/main" id="{E68FB80C-080C-5ACC-C2C8-FA7A4757A1F8}"/>
              </a:ext>
            </a:extLst>
          </p:cNvPr>
          <p:cNvSpPr>
            <a:spLocks noGrp="1"/>
          </p:cNvSpPr>
          <p:nvPr>
            <p:ph type="title"/>
          </p:nvPr>
        </p:nvSpPr>
        <p:spPr>
          <a:xfrm>
            <a:off x="530942" y="88490"/>
            <a:ext cx="10409903" cy="703023"/>
          </a:xfrm>
        </p:spPr>
        <p:txBody>
          <a:bodyPr/>
          <a:lstStyle/>
          <a:p>
            <a:r>
              <a:rPr lang="en-IN" b="1" dirty="0"/>
              <a:t>Used Car Market : Customer Personas</a:t>
            </a:r>
          </a:p>
        </p:txBody>
      </p:sp>
      <p:sp>
        <p:nvSpPr>
          <p:cNvPr id="6" name="Content Placeholder 5">
            <a:extLst>
              <a:ext uri="{FF2B5EF4-FFF2-40B4-BE49-F238E27FC236}">
                <a16:creationId xmlns:a16="http://schemas.microsoft.com/office/drawing/2014/main" id="{9FA9AC0E-C08B-D807-5519-94A70F45EDD4}"/>
              </a:ext>
            </a:extLst>
          </p:cNvPr>
          <p:cNvSpPr>
            <a:spLocks noGrp="1"/>
          </p:cNvSpPr>
          <p:nvPr>
            <p:ph sz="half" idx="1"/>
          </p:nvPr>
        </p:nvSpPr>
        <p:spPr>
          <a:xfrm>
            <a:off x="838199" y="1253248"/>
            <a:ext cx="4146755" cy="2775871"/>
          </a:xfrm>
        </p:spPr>
        <p:txBody>
          <a:bodyPr>
            <a:noAutofit/>
          </a:bodyPr>
          <a:lstStyle/>
          <a:p>
            <a:r>
              <a:rPr lang="en-IN" sz="1600" b="1" dirty="0"/>
              <a:t>The First-time Aspirant</a:t>
            </a:r>
          </a:p>
          <a:p>
            <a:r>
              <a:rPr lang="en-IN" sz="1600" i="1" dirty="0">
                <a:solidFill>
                  <a:schemeClr val="tx2">
                    <a:lumMod val="75000"/>
                    <a:lumOff val="25000"/>
                  </a:schemeClr>
                </a:solidFill>
              </a:rPr>
              <a:t>      Motivation: Ownership</a:t>
            </a:r>
          </a:p>
          <a:p>
            <a:r>
              <a:rPr lang="en-IN" sz="1600" dirty="0"/>
              <a:t>-64% of buyers are first-timers.</a:t>
            </a:r>
          </a:p>
          <a:p>
            <a:r>
              <a:rPr lang="en-IN" sz="1600" dirty="0"/>
              <a:t>Typically young professionals or families in tier-2/3 cities.</a:t>
            </a:r>
          </a:p>
          <a:p>
            <a:r>
              <a:rPr lang="en-IN" sz="1600" dirty="0"/>
              <a:t>Prefer budget hatchbacks(e.g. Maruti Swift).</a:t>
            </a:r>
          </a:p>
          <a:p>
            <a:r>
              <a:rPr lang="en-IN" sz="1600" dirty="0"/>
              <a:t>Price sensitive (usually under ₹5 Lakh).</a:t>
            </a:r>
          </a:p>
        </p:txBody>
      </p:sp>
      <p:sp>
        <p:nvSpPr>
          <p:cNvPr id="7" name="Content Placeholder 6">
            <a:extLst>
              <a:ext uri="{FF2B5EF4-FFF2-40B4-BE49-F238E27FC236}">
                <a16:creationId xmlns:a16="http://schemas.microsoft.com/office/drawing/2014/main" id="{F0475D36-44FB-3FD3-7B42-F93A0A02D6E5}"/>
              </a:ext>
            </a:extLst>
          </p:cNvPr>
          <p:cNvSpPr>
            <a:spLocks noGrp="1"/>
          </p:cNvSpPr>
          <p:nvPr>
            <p:ph sz="half" idx="2"/>
          </p:nvPr>
        </p:nvSpPr>
        <p:spPr>
          <a:xfrm>
            <a:off x="6224336" y="1253248"/>
            <a:ext cx="5129463" cy="1960312"/>
          </a:xfrm>
        </p:spPr>
        <p:txBody>
          <a:bodyPr>
            <a:normAutofit/>
          </a:bodyPr>
          <a:lstStyle/>
          <a:p>
            <a:r>
              <a:rPr lang="en-IN" sz="1800" b="1" dirty="0"/>
              <a:t>The Smart Upgrader</a:t>
            </a:r>
            <a:r>
              <a:rPr lang="en-IN" sz="1800" dirty="0"/>
              <a:t> </a:t>
            </a:r>
          </a:p>
          <a:p>
            <a:r>
              <a:rPr lang="en-IN" sz="1800" i="1" dirty="0">
                <a:solidFill>
                  <a:schemeClr val="tx2">
                    <a:lumMod val="75000"/>
                    <a:lumOff val="25000"/>
                  </a:schemeClr>
                </a:solidFill>
              </a:rPr>
              <a:t>       Value for Money</a:t>
            </a:r>
          </a:p>
          <a:p>
            <a:r>
              <a:rPr lang="en-IN" sz="1800" dirty="0"/>
              <a:t>Urban middle-class buyers</a:t>
            </a:r>
          </a:p>
          <a:p>
            <a:r>
              <a:rPr lang="en-IN" sz="1800" dirty="0"/>
              <a:t>Prefer used SUV or Sedan over new hatchback</a:t>
            </a:r>
          </a:p>
          <a:p>
            <a:r>
              <a:rPr lang="en-IN" sz="1800" dirty="0"/>
              <a:t>Focus on better features within same budget</a:t>
            </a:r>
          </a:p>
        </p:txBody>
      </p:sp>
      <p:sp>
        <p:nvSpPr>
          <p:cNvPr id="12" name="TextBox 11">
            <a:extLst>
              <a:ext uri="{FF2B5EF4-FFF2-40B4-BE49-F238E27FC236}">
                <a16:creationId xmlns:a16="http://schemas.microsoft.com/office/drawing/2014/main" id="{3F8ABA95-B860-045D-377D-FC1994A002B2}"/>
              </a:ext>
            </a:extLst>
          </p:cNvPr>
          <p:cNvSpPr txBox="1"/>
          <p:nvPr/>
        </p:nvSpPr>
        <p:spPr>
          <a:xfrm>
            <a:off x="943897" y="4112327"/>
            <a:ext cx="4857135" cy="1754326"/>
          </a:xfrm>
          <a:prstGeom prst="rect">
            <a:avLst/>
          </a:prstGeom>
          <a:noFill/>
        </p:spPr>
        <p:txBody>
          <a:bodyPr wrap="square" rtlCol="0">
            <a:spAutoFit/>
          </a:bodyPr>
          <a:lstStyle/>
          <a:p>
            <a:pPr marL="285750" indent="-285750">
              <a:buFont typeface="Arial" panose="020B0604020202020204" pitchFamily="34" charset="0"/>
              <a:buChar char="•"/>
            </a:pPr>
            <a:r>
              <a:rPr lang="en-IN" b="1" dirty="0"/>
              <a:t>The Skill Builder</a:t>
            </a:r>
          </a:p>
          <a:p>
            <a:pPr marL="285750" indent="-285750">
              <a:buFont typeface="Arial" panose="020B0604020202020204" pitchFamily="34" charset="0"/>
              <a:buChar char="•"/>
            </a:pPr>
            <a:r>
              <a:rPr lang="en-IN" i="1" dirty="0">
                <a:solidFill>
                  <a:schemeClr val="tx2">
                    <a:lumMod val="75000"/>
                    <a:lumOff val="25000"/>
                  </a:schemeClr>
                </a:solidFill>
              </a:rPr>
              <a:t>       Utility</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New drivers learning and gaining confidence </a:t>
            </a:r>
          </a:p>
          <a:p>
            <a:pPr marL="285750" indent="-285750">
              <a:buFont typeface="Arial" panose="020B0604020202020204" pitchFamily="34" charset="0"/>
              <a:buChar char="•"/>
            </a:pPr>
            <a:r>
              <a:rPr lang="en-IN" dirty="0"/>
              <a:t>Buy low-cost pre-owned vehicles first</a:t>
            </a:r>
          </a:p>
          <a:p>
            <a:pPr marL="285750" indent="-285750">
              <a:buFont typeface="Arial" panose="020B0604020202020204" pitchFamily="34" charset="0"/>
              <a:buChar char="•"/>
            </a:pPr>
            <a:r>
              <a:rPr lang="en-IN" dirty="0"/>
              <a:t>Prefer manual transmission  </a:t>
            </a:r>
          </a:p>
        </p:txBody>
      </p:sp>
      <p:sp>
        <p:nvSpPr>
          <p:cNvPr id="13" name="TextBox 12">
            <a:extLst>
              <a:ext uri="{FF2B5EF4-FFF2-40B4-BE49-F238E27FC236}">
                <a16:creationId xmlns:a16="http://schemas.microsoft.com/office/drawing/2014/main" id="{90D80A36-FD46-72A5-910B-1B6F2EC67A35}"/>
              </a:ext>
            </a:extLst>
          </p:cNvPr>
          <p:cNvSpPr txBox="1"/>
          <p:nvPr/>
        </p:nvSpPr>
        <p:spPr>
          <a:xfrm>
            <a:off x="6224336" y="4112327"/>
            <a:ext cx="5129463" cy="2031325"/>
          </a:xfrm>
          <a:prstGeom prst="rect">
            <a:avLst/>
          </a:prstGeom>
          <a:noFill/>
        </p:spPr>
        <p:txBody>
          <a:bodyPr wrap="square" rtlCol="0">
            <a:spAutoFit/>
          </a:bodyPr>
          <a:lstStyle/>
          <a:p>
            <a:pPr marL="285750" indent="-285750">
              <a:buFont typeface="Arial" panose="020B0604020202020204" pitchFamily="34" charset="0"/>
              <a:buChar char="•"/>
            </a:pPr>
            <a:r>
              <a:rPr lang="en-IN" b="1" dirty="0"/>
              <a:t>The Second-Car Seeker </a:t>
            </a:r>
          </a:p>
          <a:p>
            <a:pPr marL="285750" indent="-285750">
              <a:buFont typeface="Arial" panose="020B0604020202020204" pitchFamily="34" charset="0"/>
              <a:buChar char="•"/>
            </a:pPr>
            <a:r>
              <a:rPr lang="en-IN" dirty="0"/>
              <a:t>     </a:t>
            </a:r>
            <a:r>
              <a:rPr lang="en-IN" i="1" dirty="0">
                <a:solidFill>
                  <a:schemeClr val="tx2">
                    <a:lumMod val="75000"/>
                    <a:lumOff val="25000"/>
                  </a:schemeClr>
                </a:solidFill>
              </a:rPr>
              <a:t>convenience</a:t>
            </a:r>
          </a:p>
          <a:p>
            <a:r>
              <a:rPr lang="en-IN" dirty="0"/>
              <a:t> </a:t>
            </a:r>
          </a:p>
          <a:p>
            <a:pPr marL="285750" indent="-285750">
              <a:buFont typeface="Arial" panose="020B0604020202020204" pitchFamily="34" charset="0"/>
              <a:buChar char="•"/>
            </a:pPr>
            <a:r>
              <a:rPr lang="en-IN" dirty="0"/>
              <a:t>Affluent metro households (Delhi, Mumbai)</a:t>
            </a:r>
          </a:p>
          <a:p>
            <a:pPr marL="285750" indent="-285750">
              <a:buFont typeface="Arial" panose="020B0604020202020204" pitchFamily="34" charset="0"/>
              <a:buChar char="•"/>
            </a:pPr>
            <a:r>
              <a:rPr lang="en-IN" dirty="0"/>
              <a:t>Looking for an additional family vehicle </a:t>
            </a:r>
          </a:p>
          <a:p>
            <a:pPr marL="285750" indent="-285750">
              <a:buFont typeface="Arial" panose="020B0604020202020204" pitchFamily="34" charset="0"/>
              <a:buChar char="•"/>
            </a:pPr>
            <a:r>
              <a:rPr lang="en-IN" dirty="0"/>
              <a:t>Used for short commutes or school runs </a:t>
            </a:r>
          </a:p>
          <a:p>
            <a:pPr marL="285750" indent="-285750">
              <a:buFont typeface="Arial" panose="020B0604020202020204" pitchFamily="34" charset="0"/>
              <a:buChar char="•"/>
            </a:pPr>
            <a:r>
              <a:rPr lang="en-IN" dirty="0"/>
              <a:t>Prefer compact automatic petrol cars</a:t>
            </a:r>
          </a:p>
        </p:txBody>
      </p:sp>
      <p:pic>
        <p:nvPicPr>
          <p:cNvPr id="18" name="Picture 17">
            <a:extLst>
              <a:ext uri="{FF2B5EF4-FFF2-40B4-BE49-F238E27FC236}">
                <a16:creationId xmlns:a16="http://schemas.microsoft.com/office/drawing/2014/main" id="{F54D7C0A-79FA-CD85-13D3-1D5B031E3C07}"/>
              </a:ext>
            </a:extLst>
          </p:cNvPr>
          <p:cNvPicPr>
            <a:picLocks noChangeAspect="1"/>
          </p:cNvPicPr>
          <p:nvPr/>
        </p:nvPicPr>
        <p:blipFill>
          <a:blip r:embed="rId4">
            <a:alphaModFix amt="39000"/>
            <a:extLst>
              <a:ext uri="{28A0092B-C50C-407E-A947-70E740481C1C}">
                <a14:useLocalDpi xmlns:a14="http://schemas.microsoft.com/office/drawing/2010/main" val="0"/>
              </a:ext>
            </a:extLst>
          </a:blip>
          <a:stretch>
            <a:fillRect/>
          </a:stretch>
        </p:blipFill>
        <p:spPr>
          <a:xfrm>
            <a:off x="9811225" y="-218989"/>
            <a:ext cx="1396180" cy="1396180"/>
          </a:xfrm>
          <a:prstGeom prst="rect">
            <a:avLst/>
          </a:prstGeom>
        </p:spPr>
      </p:pic>
      <p:pic>
        <p:nvPicPr>
          <p:cNvPr id="20" name="Picture 19">
            <a:extLst>
              <a:ext uri="{FF2B5EF4-FFF2-40B4-BE49-F238E27FC236}">
                <a16:creationId xmlns:a16="http://schemas.microsoft.com/office/drawing/2014/main" id="{F0EB8C01-E494-2328-72C7-26F3F5DD8B5A}"/>
              </a:ext>
            </a:extLst>
          </p:cNvPr>
          <p:cNvPicPr>
            <a:picLocks noChangeAspect="1"/>
          </p:cNvPicPr>
          <p:nvPr/>
        </p:nvPicPr>
        <p:blipFill>
          <a:blip r:embed="rId5">
            <a:alphaModFix/>
            <a:extLst>
              <a:ext uri="{BEBA8EAE-BF5A-486C-A8C5-ECC9F3942E4B}">
                <a14:imgProps xmlns:a14="http://schemas.microsoft.com/office/drawing/2010/main">
                  <a14:imgLayer r:embed="rId6">
                    <a14:imgEffect>
                      <a14:artisticLineDrawing/>
                    </a14:imgEffect>
                  </a14:imgLayer>
                </a14:imgProps>
              </a:ext>
              <a:ext uri="{28A0092B-C50C-407E-A947-70E740481C1C}">
                <a14:useLocalDpi xmlns:a14="http://schemas.microsoft.com/office/drawing/2010/main" val="0"/>
              </a:ext>
            </a:extLst>
          </a:blip>
          <a:stretch>
            <a:fillRect/>
          </a:stretch>
        </p:blipFill>
        <p:spPr>
          <a:xfrm>
            <a:off x="4271251" y="1086832"/>
            <a:ext cx="1533983" cy="1022888"/>
          </a:xfrm>
          <a:prstGeom prst="rect">
            <a:avLst/>
          </a:prstGeom>
        </p:spPr>
      </p:pic>
      <p:pic>
        <p:nvPicPr>
          <p:cNvPr id="22" name="Picture 21">
            <a:extLst>
              <a:ext uri="{FF2B5EF4-FFF2-40B4-BE49-F238E27FC236}">
                <a16:creationId xmlns:a16="http://schemas.microsoft.com/office/drawing/2014/main" id="{F9269086-9147-3C66-0C0F-A565EAC43B7D}"/>
              </a:ext>
            </a:extLst>
          </p:cNvPr>
          <p:cNvPicPr>
            <a:picLocks noChangeAspect="1"/>
          </p:cNvPicPr>
          <p:nvPr/>
        </p:nvPicPr>
        <p:blipFill>
          <a:blip r:embed="rId7">
            <a:alphaModFix amt="85000"/>
            <a:extLst>
              <a:ext uri="{BEBA8EAE-BF5A-486C-A8C5-ECC9F3942E4B}">
                <a14:imgProps xmlns:a14="http://schemas.microsoft.com/office/drawing/2010/main">
                  <a14:imgLayer r:embed="rId8">
                    <a14:imgEffect>
                      <a14:artisticLineDrawing/>
                    </a14:imgEffect>
                  </a14:imgLayer>
                </a14:imgProps>
              </a:ext>
              <a:ext uri="{28A0092B-C50C-407E-A947-70E740481C1C}">
                <a14:useLocalDpi xmlns:a14="http://schemas.microsoft.com/office/drawing/2010/main" val="0"/>
              </a:ext>
            </a:extLst>
          </a:blip>
          <a:stretch>
            <a:fillRect/>
          </a:stretch>
        </p:blipFill>
        <p:spPr>
          <a:xfrm>
            <a:off x="9763432" y="1102513"/>
            <a:ext cx="1443973" cy="887012"/>
          </a:xfrm>
          <a:prstGeom prst="rect">
            <a:avLst/>
          </a:prstGeom>
        </p:spPr>
      </p:pic>
      <p:pic>
        <p:nvPicPr>
          <p:cNvPr id="24" name="Picture 23">
            <a:extLst>
              <a:ext uri="{FF2B5EF4-FFF2-40B4-BE49-F238E27FC236}">
                <a16:creationId xmlns:a16="http://schemas.microsoft.com/office/drawing/2014/main" id="{2B8269DC-0C8E-19D6-9299-81484B784AFE}"/>
              </a:ext>
            </a:extLst>
          </p:cNvPr>
          <p:cNvPicPr>
            <a:picLocks noChangeAspect="1"/>
          </p:cNvPicPr>
          <p:nvPr/>
        </p:nvPicPr>
        <p:blipFill>
          <a:blip r:embed="rId9">
            <a:alphaModFix amt="85000"/>
            <a:extLst>
              <a:ext uri="{BEBA8EAE-BF5A-486C-A8C5-ECC9F3942E4B}">
                <a14:imgProps xmlns:a14="http://schemas.microsoft.com/office/drawing/2010/main">
                  <a14:imgLayer r:embed="rId10">
                    <a14:imgEffect>
                      <a14:artisticLineDrawing/>
                    </a14:imgEffect>
                  </a14:imgLayer>
                </a14:imgProps>
              </a:ext>
              <a:ext uri="{28A0092B-C50C-407E-A947-70E740481C1C}">
                <a14:useLocalDpi xmlns:a14="http://schemas.microsoft.com/office/drawing/2010/main" val="0"/>
              </a:ext>
            </a:extLst>
          </a:blip>
          <a:stretch>
            <a:fillRect/>
          </a:stretch>
        </p:blipFill>
        <p:spPr>
          <a:xfrm>
            <a:off x="4424516" y="4029119"/>
            <a:ext cx="1459059" cy="877178"/>
          </a:xfrm>
          <a:prstGeom prst="rect">
            <a:avLst/>
          </a:prstGeom>
        </p:spPr>
      </p:pic>
      <p:pic>
        <p:nvPicPr>
          <p:cNvPr id="26" name="Picture 25">
            <a:extLst>
              <a:ext uri="{FF2B5EF4-FFF2-40B4-BE49-F238E27FC236}">
                <a16:creationId xmlns:a16="http://schemas.microsoft.com/office/drawing/2014/main" id="{4B908D12-4AD0-F61E-39A4-728CE124F3F8}"/>
              </a:ext>
            </a:extLst>
          </p:cNvPr>
          <p:cNvPicPr>
            <a:picLocks noChangeAspect="1"/>
          </p:cNvPicPr>
          <p:nvPr/>
        </p:nvPicPr>
        <p:blipFill>
          <a:blip r:embed="rId11">
            <a:alphaModFix amt="85000"/>
            <a:extLst>
              <a:ext uri="{BEBA8EAE-BF5A-486C-A8C5-ECC9F3942E4B}">
                <a14:imgProps xmlns:a14="http://schemas.microsoft.com/office/drawing/2010/main">
                  <a14:imgLayer r:embed="rId12">
                    <a14:imgEffect>
                      <a14:artisticLineDrawing/>
                    </a14:imgEffect>
                  </a14:imgLayer>
                </a14:imgProps>
              </a:ext>
              <a:ext uri="{28A0092B-C50C-407E-A947-70E740481C1C}">
                <a14:useLocalDpi xmlns:a14="http://schemas.microsoft.com/office/drawing/2010/main" val="0"/>
              </a:ext>
            </a:extLst>
          </a:blip>
          <a:stretch>
            <a:fillRect/>
          </a:stretch>
        </p:blipFill>
        <p:spPr>
          <a:xfrm>
            <a:off x="9997463" y="3629996"/>
            <a:ext cx="1484671" cy="1454871"/>
          </a:xfrm>
          <a:prstGeom prst="rect">
            <a:avLst/>
          </a:prstGeom>
        </p:spPr>
      </p:pic>
    </p:spTree>
    <p:extLst>
      <p:ext uri="{BB962C8B-B14F-4D97-AF65-F5344CB8AC3E}">
        <p14:creationId xmlns:p14="http://schemas.microsoft.com/office/powerpoint/2010/main" val="2557408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EC4B3EE-45CF-00FC-70F9-78F630441F1D}"/>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0" y="0"/>
            <a:ext cx="12024852" cy="6858000"/>
          </a:xfrm>
          <a:prstGeom prst="rect">
            <a:avLst/>
          </a:prstGeom>
        </p:spPr>
      </p:pic>
      <p:sp>
        <p:nvSpPr>
          <p:cNvPr id="5" name="Title 4">
            <a:extLst>
              <a:ext uri="{FF2B5EF4-FFF2-40B4-BE49-F238E27FC236}">
                <a16:creationId xmlns:a16="http://schemas.microsoft.com/office/drawing/2014/main" id="{4B34B9ED-A819-E422-9E97-A3A6B9BEEF3D}"/>
              </a:ext>
            </a:extLst>
          </p:cNvPr>
          <p:cNvSpPr>
            <a:spLocks noGrp="1"/>
          </p:cNvSpPr>
          <p:nvPr>
            <p:ph type="title"/>
          </p:nvPr>
        </p:nvSpPr>
        <p:spPr>
          <a:xfrm>
            <a:off x="806245" y="147485"/>
            <a:ext cx="9212825" cy="1376515"/>
          </a:xfrm>
        </p:spPr>
        <p:txBody>
          <a:bodyPr anchor="t" anchorCtr="0">
            <a:normAutofit/>
          </a:bodyPr>
          <a:lstStyle/>
          <a:p>
            <a:r>
              <a:rPr lang="en-IN" sz="4000" b="1" dirty="0"/>
              <a:t>India Used Car Market : Regional Analysis</a:t>
            </a:r>
          </a:p>
        </p:txBody>
      </p:sp>
      <p:sp>
        <p:nvSpPr>
          <p:cNvPr id="6" name="Content Placeholder 5">
            <a:extLst>
              <a:ext uri="{FF2B5EF4-FFF2-40B4-BE49-F238E27FC236}">
                <a16:creationId xmlns:a16="http://schemas.microsoft.com/office/drawing/2014/main" id="{F4A76019-D355-B46D-CF81-1F43CD48D0AD}"/>
              </a:ext>
            </a:extLst>
          </p:cNvPr>
          <p:cNvSpPr>
            <a:spLocks noGrp="1"/>
          </p:cNvSpPr>
          <p:nvPr>
            <p:ph idx="1"/>
          </p:nvPr>
        </p:nvSpPr>
        <p:spPr>
          <a:xfrm>
            <a:off x="707923" y="1150374"/>
            <a:ext cx="8849032" cy="1750142"/>
          </a:xfrm>
        </p:spPr>
        <p:txBody>
          <a:bodyPr>
            <a:normAutofit/>
          </a:bodyPr>
          <a:lstStyle/>
          <a:p>
            <a:pPr marL="0" indent="0" algn="just">
              <a:buNone/>
            </a:pPr>
            <a:r>
              <a:rPr lang="en-IN" sz="1700" b="1" dirty="0"/>
              <a:t>Maharashtra</a:t>
            </a:r>
            <a:r>
              <a:rPr lang="en-IN" sz="1700" dirty="0"/>
              <a:t> is the leading state in India for used car sales, holding a </a:t>
            </a:r>
            <a:r>
              <a:rPr lang="en-IN" sz="1700" b="1" dirty="0"/>
              <a:t>20.7%</a:t>
            </a:r>
            <a:r>
              <a:rPr lang="en-IN" sz="1700" dirty="0"/>
              <a:t> share of the national market in 2025. It is followed by Karnataka(16.5%) and Gujarat (13.5%), with the overall market heavily driven by demand in Western India, which accounted for over one-third of all used car transactions.</a:t>
            </a:r>
          </a:p>
        </p:txBody>
      </p:sp>
      <p:sp>
        <p:nvSpPr>
          <p:cNvPr id="7" name="TextBox 6">
            <a:extLst>
              <a:ext uri="{FF2B5EF4-FFF2-40B4-BE49-F238E27FC236}">
                <a16:creationId xmlns:a16="http://schemas.microsoft.com/office/drawing/2014/main" id="{3100E098-0370-7564-A949-2AF826E55F85}"/>
              </a:ext>
            </a:extLst>
          </p:cNvPr>
          <p:cNvSpPr txBox="1"/>
          <p:nvPr/>
        </p:nvSpPr>
        <p:spPr>
          <a:xfrm>
            <a:off x="806245" y="2684597"/>
            <a:ext cx="9212825" cy="3139321"/>
          </a:xfrm>
          <a:prstGeom prst="rect">
            <a:avLst/>
          </a:prstGeom>
          <a:noFill/>
        </p:spPr>
        <p:txBody>
          <a:bodyPr wrap="square" rtlCol="0">
            <a:spAutoFit/>
          </a:bodyPr>
          <a:lstStyle/>
          <a:p>
            <a:pPr algn="just"/>
            <a:r>
              <a:rPr lang="en-IN" b="1" dirty="0"/>
              <a:t>Key details regarding the used car market: </a:t>
            </a:r>
          </a:p>
          <a:p>
            <a:pPr algn="just"/>
            <a:r>
              <a:rPr lang="en-IN" b="1" i="1" dirty="0"/>
              <a:t> • Top States:</a:t>
            </a:r>
            <a:r>
              <a:rPr lang="en-IN" dirty="0"/>
              <a:t> Maharashtra (20.7%), Karnataka (16.5%),   Gujarat (13.5%), and UttarPradesh (13%) are the top states for used car demand.</a:t>
            </a:r>
          </a:p>
          <a:p>
            <a:pPr algn="just"/>
            <a:endParaRPr lang="en-IN" dirty="0"/>
          </a:p>
          <a:p>
            <a:pPr algn="just"/>
            <a:r>
              <a:rPr lang="en-IN" b="1" i="1" dirty="0"/>
              <a:t>• Top Models: </a:t>
            </a:r>
            <a:r>
              <a:rPr lang="en-IN" dirty="0"/>
              <a:t>The Maruti Suzuki Baleno is the most sold used car, followed by the Grand i10 and Kwid.</a:t>
            </a:r>
          </a:p>
          <a:p>
            <a:pPr algn="just"/>
            <a:endParaRPr lang="en-IN" dirty="0"/>
          </a:p>
          <a:p>
            <a:pPr algn="just"/>
            <a:r>
              <a:rPr lang="en-IN" b="1" i="1" dirty="0"/>
              <a:t>• Regional Trend :</a:t>
            </a:r>
            <a:r>
              <a:rPr lang="en-IN" dirty="0"/>
              <a:t> South India accounts for over 40% of used car sales, with West India closely following.</a:t>
            </a:r>
          </a:p>
          <a:p>
            <a:pPr algn="just"/>
            <a:endParaRPr lang="en-IN" dirty="0"/>
          </a:p>
          <a:p>
            <a:pPr algn="just"/>
            <a:endParaRPr lang="en-IN" dirty="0"/>
          </a:p>
        </p:txBody>
      </p:sp>
      <p:pic>
        <p:nvPicPr>
          <p:cNvPr id="8" name="Picture 7">
            <a:extLst>
              <a:ext uri="{FF2B5EF4-FFF2-40B4-BE49-F238E27FC236}">
                <a16:creationId xmlns:a16="http://schemas.microsoft.com/office/drawing/2014/main" id="{E2A5CB88-35A8-91E6-608C-6A7B43430526}"/>
              </a:ext>
            </a:extLst>
          </p:cNvPr>
          <p:cNvPicPr>
            <a:picLocks noChangeAspect="1"/>
          </p:cNvPicPr>
          <p:nvPr/>
        </p:nvPicPr>
        <p:blipFill>
          <a:blip r:embed="rId3">
            <a:alphaModFix amt="39000"/>
            <a:extLst>
              <a:ext uri="{28A0092B-C50C-407E-A947-70E740481C1C}">
                <a14:useLocalDpi xmlns:a14="http://schemas.microsoft.com/office/drawing/2010/main" val="0"/>
              </a:ext>
            </a:extLst>
          </a:blip>
          <a:stretch>
            <a:fillRect/>
          </a:stretch>
        </p:blipFill>
        <p:spPr>
          <a:xfrm>
            <a:off x="10216513" y="-251798"/>
            <a:ext cx="1610895" cy="1579153"/>
          </a:xfrm>
          <a:prstGeom prst="rect">
            <a:avLst/>
          </a:prstGeom>
        </p:spPr>
      </p:pic>
    </p:spTree>
    <p:extLst>
      <p:ext uri="{BB962C8B-B14F-4D97-AF65-F5344CB8AC3E}">
        <p14:creationId xmlns:p14="http://schemas.microsoft.com/office/powerpoint/2010/main" val="4217928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C3F1714-4ED9-C1B3-27F9-36AA4161045F}"/>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9832" y="0"/>
            <a:ext cx="12192000" cy="6858000"/>
          </a:xfrm>
          <a:prstGeom prst="rect">
            <a:avLst/>
          </a:prstGeom>
        </p:spPr>
      </p:pic>
      <p:sp>
        <p:nvSpPr>
          <p:cNvPr id="2" name="Title 1">
            <a:extLst>
              <a:ext uri="{FF2B5EF4-FFF2-40B4-BE49-F238E27FC236}">
                <a16:creationId xmlns:a16="http://schemas.microsoft.com/office/drawing/2014/main" id="{E2209FED-3A6E-F82A-8F69-1D91D7989594}"/>
              </a:ext>
            </a:extLst>
          </p:cNvPr>
          <p:cNvSpPr>
            <a:spLocks noGrp="1"/>
          </p:cNvSpPr>
          <p:nvPr>
            <p:ph type="title"/>
          </p:nvPr>
        </p:nvSpPr>
        <p:spPr>
          <a:xfrm>
            <a:off x="110612" y="1"/>
            <a:ext cx="6840794" cy="1366683"/>
          </a:xfrm>
        </p:spPr>
        <p:txBody>
          <a:bodyPr>
            <a:normAutofit/>
          </a:bodyPr>
          <a:lstStyle/>
          <a:p>
            <a:r>
              <a:rPr lang="en-IN" sz="4000" b="1" dirty="0"/>
              <a:t>India Used Car Market : Competitive Landscape</a:t>
            </a:r>
          </a:p>
        </p:txBody>
      </p:sp>
      <p:sp>
        <p:nvSpPr>
          <p:cNvPr id="3" name="Content Placeholder 2">
            <a:extLst>
              <a:ext uri="{FF2B5EF4-FFF2-40B4-BE49-F238E27FC236}">
                <a16:creationId xmlns:a16="http://schemas.microsoft.com/office/drawing/2014/main" id="{9B94FE2F-2C9A-D56D-D36F-70A79A83F88B}"/>
              </a:ext>
            </a:extLst>
          </p:cNvPr>
          <p:cNvSpPr>
            <a:spLocks noGrp="1"/>
          </p:cNvSpPr>
          <p:nvPr>
            <p:ph idx="1"/>
          </p:nvPr>
        </p:nvSpPr>
        <p:spPr>
          <a:xfrm>
            <a:off x="0" y="1943612"/>
            <a:ext cx="6418006" cy="4351338"/>
          </a:xfrm>
        </p:spPr>
        <p:txBody>
          <a:bodyPr>
            <a:normAutofit lnSpcReduction="10000"/>
          </a:bodyPr>
          <a:lstStyle/>
          <a:p>
            <a:pPr algn="just"/>
            <a:r>
              <a:rPr lang="en-IN" sz="1800" dirty="0"/>
              <a:t>India used car market is showcasing a dynamic shift, with both unorganized and organized players vying for consumer attention. Unorganized dealers are currently leading in terms of volume owing to their informal credit options and hyperlocal reach. Organized players, including </a:t>
            </a:r>
            <a:r>
              <a:rPr lang="en-IN" sz="1800" b="1" dirty="0"/>
              <a:t>OLX Autos</a:t>
            </a:r>
            <a:r>
              <a:rPr lang="en-IN" sz="1800" dirty="0"/>
              <a:t>, </a:t>
            </a:r>
            <a:r>
              <a:rPr lang="en-IN" sz="1800" b="1" dirty="0"/>
              <a:t>Spinny </a:t>
            </a:r>
            <a:r>
              <a:rPr lang="en-IN" sz="1800" dirty="0"/>
              <a:t>, and </a:t>
            </a:r>
            <a:r>
              <a:rPr lang="en-IN" sz="1800" b="1" dirty="0"/>
              <a:t>Cars24</a:t>
            </a:r>
            <a:r>
              <a:rPr lang="en-IN" sz="1800" dirty="0"/>
              <a:t>, are rapidly gaining ground by providing hassle-free car insurance and warranty, financing, and quality assurance.</a:t>
            </a:r>
          </a:p>
          <a:p>
            <a:pPr algn="just"/>
            <a:endParaRPr lang="en-IN" sz="1800" dirty="0"/>
          </a:p>
          <a:p>
            <a:pPr algn="just"/>
            <a:r>
              <a:rPr lang="en-IN" sz="1800" dirty="0"/>
              <a:t>The consumer-to-consumer (C2C) segment is , however, shrinking, mainly because of increasing concerns over trust and transparency . To gain a competitive advantage these dealers are aiming to embrace differentiating strategies, including subscription models, digital retailing, and home test drives. A few value-added benefits such  as loyalty programs, return policies, and extended warranties are also helping them to transform buyers experience in this rapidly evolving market.</a:t>
            </a:r>
          </a:p>
        </p:txBody>
      </p:sp>
      <p:pic>
        <p:nvPicPr>
          <p:cNvPr id="7" name="Picture 6">
            <a:extLst>
              <a:ext uri="{FF2B5EF4-FFF2-40B4-BE49-F238E27FC236}">
                <a16:creationId xmlns:a16="http://schemas.microsoft.com/office/drawing/2014/main" id="{993F69E1-01BA-D91B-DCCE-C18D524DD867}"/>
              </a:ext>
            </a:extLst>
          </p:cNvPr>
          <p:cNvPicPr>
            <a:picLocks noChangeAspect="1"/>
          </p:cNvPicPr>
          <p:nvPr/>
        </p:nvPicPr>
        <p:blipFill>
          <a:blip r:embed="rId3">
            <a:alphaModFix amt="39000"/>
            <a:extLst>
              <a:ext uri="{28A0092B-C50C-407E-A947-70E740481C1C}">
                <a14:useLocalDpi xmlns:a14="http://schemas.microsoft.com/office/drawing/2010/main" val="0"/>
              </a:ext>
            </a:extLst>
          </a:blip>
          <a:stretch>
            <a:fillRect/>
          </a:stretch>
        </p:blipFill>
        <p:spPr>
          <a:xfrm>
            <a:off x="5545393" y="0"/>
            <a:ext cx="1406013" cy="1483340"/>
          </a:xfrm>
          <a:prstGeom prst="rect">
            <a:avLst/>
          </a:prstGeom>
        </p:spPr>
      </p:pic>
      <p:pic>
        <p:nvPicPr>
          <p:cNvPr id="11" name="Picture 10">
            <a:extLst>
              <a:ext uri="{FF2B5EF4-FFF2-40B4-BE49-F238E27FC236}">
                <a16:creationId xmlns:a16="http://schemas.microsoft.com/office/drawing/2014/main" id="{FF21AA4D-BB58-66DC-C061-F1AFF613A2DF}"/>
              </a:ext>
            </a:extLst>
          </p:cNvPr>
          <p:cNvPicPr>
            <a:picLocks noChangeAspect="1"/>
          </p:cNvPicPr>
          <p:nvPr/>
        </p:nvPicPr>
        <p:blipFill>
          <a:blip r:embed="rId4">
            <a:alphaModFix amt="80000"/>
            <a:extLst>
              <a:ext uri="{28A0092B-C50C-407E-A947-70E740481C1C}">
                <a14:useLocalDpi xmlns:a14="http://schemas.microsoft.com/office/drawing/2010/main" val="0"/>
              </a:ext>
            </a:extLst>
          </a:blip>
          <a:stretch>
            <a:fillRect/>
          </a:stretch>
        </p:blipFill>
        <p:spPr>
          <a:xfrm>
            <a:off x="7333676" y="3288173"/>
            <a:ext cx="1555672" cy="1197077"/>
          </a:xfrm>
          <a:prstGeom prst="rect">
            <a:avLst/>
          </a:prstGeom>
        </p:spPr>
      </p:pic>
      <p:pic>
        <p:nvPicPr>
          <p:cNvPr id="13" name="Picture 12">
            <a:extLst>
              <a:ext uri="{FF2B5EF4-FFF2-40B4-BE49-F238E27FC236}">
                <a16:creationId xmlns:a16="http://schemas.microsoft.com/office/drawing/2014/main" id="{EC1F8D1C-87AA-F97B-2DC1-1EC8672E2F02}"/>
              </a:ext>
            </a:extLst>
          </p:cNvPr>
          <p:cNvPicPr>
            <a:picLocks noChangeAspect="1"/>
          </p:cNvPicPr>
          <p:nvPr/>
        </p:nvPicPr>
        <p:blipFill>
          <a:blip r:embed="rId5">
            <a:alphaModFix amt="80000"/>
            <a:extLst>
              <a:ext uri="{28A0092B-C50C-407E-A947-70E740481C1C}">
                <a14:useLocalDpi xmlns:a14="http://schemas.microsoft.com/office/drawing/2010/main" val="0"/>
              </a:ext>
            </a:extLst>
          </a:blip>
          <a:stretch>
            <a:fillRect/>
          </a:stretch>
        </p:blipFill>
        <p:spPr>
          <a:xfrm>
            <a:off x="8889348" y="4485250"/>
            <a:ext cx="1812923" cy="1371850"/>
          </a:xfrm>
          <a:prstGeom prst="rect">
            <a:avLst/>
          </a:prstGeom>
        </p:spPr>
      </p:pic>
      <p:pic>
        <p:nvPicPr>
          <p:cNvPr id="15" name="Picture 14">
            <a:extLst>
              <a:ext uri="{FF2B5EF4-FFF2-40B4-BE49-F238E27FC236}">
                <a16:creationId xmlns:a16="http://schemas.microsoft.com/office/drawing/2014/main" id="{A4E98970-6A97-C2E5-1B3C-38702256390E}"/>
              </a:ext>
            </a:extLst>
          </p:cNvPr>
          <p:cNvPicPr>
            <a:picLocks noChangeAspect="1"/>
          </p:cNvPicPr>
          <p:nvPr/>
        </p:nvPicPr>
        <p:blipFill>
          <a:blip r:embed="rId6">
            <a:alphaModFix amt="80000"/>
            <a:extLst>
              <a:ext uri="{28A0092B-C50C-407E-A947-70E740481C1C}">
                <a14:useLocalDpi xmlns:a14="http://schemas.microsoft.com/office/drawing/2010/main" val="0"/>
              </a:ext>
            </a:extLst>
          </a:blip>
          <a:stretch>
            <a:fillRect/>
          </a:stretch>
        </p:blipFill>
        <p:spPr>
          <a:xfrm>
            <a:off x="8889348" y="1943612"/>
            <a:ext cx="1728221" cy="1344561"/>
          </a:xfrm>
          <a:prstGeom prst="rect">
            <a:avLst/>
          </a:prstGeom>
        </p:spPr>
      </p:pic>
    </p:spTree>
    <p:extLst>
      <p:ext uri="{BB962C8B-B14F-4D97-AF65-F5344CB8AC3E}">
        <p14:creationId xmlns:p14="http://schemas.microsoft.com/office/powerpoint/2010/main" val="2220405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4AC9799-42CB-68AA-51C1-67F1CAFED1E0}"/>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E88F6CC-F19B-2426-5D78-180F8DD20895}"/>
              </a:ext>
            </a:extLst>
          </p:cNvPr>
          <p:cNvSpPr>
            <a:spLocks noGrp="1"/>
          </p:cNvSpPr>
          <p:nvPr>
            <p:ph type="title"/>
          </p:nvPr>
        </p:nvSpPr>
        <p:spPr>
          <a:xfrm>
            <a:off x="2755490" y="417866"/>
            <a:ext cx="6290188" cy="1214693"/>
          </a:xfrm>
        </p:spPr>
        <p:txBody>
          <a:bodyPr>
            <a:normAutofit/>
          </a:bodyPr>
          <a:lstStyle/>
          <a:p>
            <a:r>
              <a:rPr lang="en-IN" sz="4000" b="1" dirty="0"/>
              <a:t>India Used Car Market : Digital Transformation </a:t>
            </a:r>
          </a:p>
        </p:txBody>
      </p:sp>
      <p:sp>
        <p:nvSpPr>
          <p:cNvPr id="3" name="Content Placeholder 2">
            <a:extLst>
              <a:ext uri="{FF2B5EF4-FFF2-40B4-BE49-F238E27FC236}">
                <a16:creationId xmlns:a16="http://schemas.microsoft.com/office/drawing/2014/main" id="{99774399-CEE6-234E-6443-FF3B6A76912A}"/>
              </a:ext>
            </a:extLst>
          </p:cNvPr>
          <p:cNvSpPr>
            <a:spLocks noGrp="1"/>
          </p:cNvSpPr>
          <p:nvPr>
            <p:ph idx="1"/>
          </p:nvPr>
        </p:nvSpPr>
        <p:spPr>
          <a:xfrm>
            <a:off x="1683774" y="1804673"/>
            <a:ext cx="8581103" cy="1603375"/>
          </a:xfrm>
        </p:spPr>
        <p:txBody>
          <a:bodyPr>
            <a:normAutofit/>
          </a:bodyPr>
          <a:lstStyle/>
          <a:p>
            <a:pPr algn="just"/>
            <a:r>
              <a:rPr lang="en-US" sz="1800" dirty="0"/>
              <a:t>Digital transformation is creating unprecedented transparency in a traditionally opaque market, with organized retail expected to grow from 30% to 50% market share by 2030. Cars24's INR 5 billion technology investment and hiring of 100+ tech experts demonstrate the capital intensity required to build real-time valuation algorithms and maintenance tracking systems.</a:t>
            </a:r>
            <a:endParaRPr lang="en-IN" sz="1800" dirty="0"/>
          </a:p>
        </p:txBody>
      </p:sp>
      <p:sp>
        <p:nvSpPr>
          <p:cNvPr id="4" name="TextBox 3">
            <a:extLst>
              <a:ext uri="{FF2B5EF4-FFF2-40B4-BE49-F238E27FC236}">
                <a16:creationId xmlns:a16="http://schemas.microsoft.com/office/drawing/2014/main" id="{62718C77-A90D-3722-F1CA-65AA8290862D}"/>
              </a:ext>
            </a:extLst>
          </p:cNvPr>
          <p:cNvSpPr txBox="1"/>
          <p:nvPr/>
        </p:nvSpPr>
        <p:spPr>
          <a:xfrm>
            <a:off x="1683774" y="3336517"/>
            <a:ext cx="8581103" cy="1477328"/>
          </a:xfrm>
          <a:prstGeom prst="rect">
            <a:avLst/>
          </a:prstGeom>
          <a:noFill/>
        </p:spPr>
        <p:txBody>
          <a:bodyPr wrap="square" rtlCol="0">
            <a:spAutoFit/>
          </a:bodyPr>
          <a:lstStyle/>
          <a:p>
            <a:pPr marL="285750" indent="-285750" algn="just">
              <a:buFont typeface="Arial" panose="020B0604020202020204" pitchFamily="34" charset="0"/>
              <a:buChar char="•"/>
            </a:pPr>
            <a:r>
              <a:rPr lang="en-IN" dirty="0"/>
              <a:t>CarTrade Tech’s achievement of 150 million yearly unique users with 90% organic traffic validates the asset-light digital platform model’s scalability. The shift toward digital-first transactions id particularly pronounced among women buyers, who now represent 46% of purchase compared to 35% in 	Q3 FY2024, with Delhi-NCR leading at 48% female participation .</a:t>
            </a:r>
          </a:p>
        </p:txBody>
      </p:sp>
      <p:sp>
        <p:nvSpPr>
          <p:cNvPr id="5" name="TextBox 4">
            <a:extLst>
              <a:ext uri="{FF2B5EF4-FFF2-40B4-BE49-F238E27FC236}">
                <a16:creationId xmlns:a16="http://schemas.microsoft.com/office/drawing/2014/main" id="{77B1970E-0685-6566-ABAF-4A1A5BC43FE9}"/>
              </a:ext>
            </a:extLst>
          </p:cNvPr>
          <p:cNvSpPr txBox="1"/>
          <p:nvPr/>
        </p:nvSpPr>
        <p:spPr>
          <a:xfrm>
            <a:off x="1683774" y="5199977"/>
            <a:ext cx="8581103" cy="1477328"/>
          </a:xfrm>
          <a:prstGeom prst="rect">
            <a:avLst/>
          </a:prstGeom>
          <a:noFill/>
        </p:spPr>
        <p:txBody>
          <a:bodyPr wrap="square" rtlCol="0">
            <a:spAutoFit/>
          </a:bodyPr>
          <a:lstStyle/>
          <a:p>
            <a:pPr marL="285750" indent="-285750" algn="just">
              <a:buFont typeface="Arial" panose="020B0604020202020204" pitchFamily="34" charset="0"/>
              <a:buChar char="•"/>
            </a:pPr>
            <a:r>
              <a:rPr lang="en-IN" dirty="0"/>
              <a:t>Platform consolidation accelerates as financing integration becomes critical, with 60% of Cars24 transactions now including embedded lending  solutions. Technology adoption  in tier-2 and tier-3 cities reduces information asymmetry that historically favoured local dealers, creating market democratization effects that benefit buyers and sellers through improved price discovery mechanisms.</a:t>
            </a:r>
          </a:p>
        </p:txBody>
      </p:sp>
      <p:pic>
        <p:nvPicPr>
          <p:cNvPr id="6" name="Picture 5">
            <a:extLst>
              <a:ext uri="{FF2B5EF4-FFF2-40B4-BE49-F238E27FC236}">
                <a16:creationId xmlns:a16="http://schemas.microsoft.com/office/drawing/2014/main" id="{903E05E8-5A71-4D24-E1D4-775FF2EA8DAD}"/>
              </a:ext>
            </a:extLst>
          </p:cNvPr>
          <p:cNvPicPr>
            <a:picLocks noChangeAspect="1"/>
          </p:cNvPicPr>
          <p:nvPr/>
        </p:nvPicPr>
        <p:blipFill>
          <a:blip r:embed="rId3">
            <a:alphaModFix amt="39000"/>
            <a:extLst>
              <a:ext uri="{28A0092B-C50C-407E-A947-70E740481C1C}">
                <a14:useLocalDpi xmlns:a14="http://schemas.microsoft.com/office/drawing/2010/main" val="0"/>
              </a:ext>
            </a:extLst>
          </a:blip>
          <a:stretch>
            <a:fillRect/>
          </a:stretch>
        </p:blipFill>
        <p:spPr>
          <a:xfrm>
            <a:off x="8155859" y="318162"/>
            <a:ext cx="1479753" cy="1400454"/>
          </a:xfrm>
          <a:prstGeom prst="rect">
            <a:avLst/>
          </a:prstGeom>
        </p:spPr>
      </p:pic>
    </p:spTree>
    <p:extLst>
      <p:ext uri="{BB962C8B-B14F-4D97-AF65-F5344CB8AC3E}">
        <p14:creationId xmlns:p14="http://schemas.microsoft.com/office/powerpoint/2010/main" val="19006213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2ED4568-BDF9-314C-EE9C-820D5D1399E1}"/>
              </a:ext>
            </a:extLst>
          </p:cNvPr>
          <p:cNvPicPr>
            <a:picLocks noChangeAspect="1"/>
          </p:cNvPicPr>
          <p:nvPr/>
        </p:nvPicPr>
        <p:blipFill>
          <a:blip r:embed="rId2">
            <a:alphaModFix amt="85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FEEFA909-9A0A-0D25-5862-26E94ECD8339}"/>
              </a:ext>
            </a:extLst>
          </p:cNvPr>
          <p:cNvPicPr>
            <a:picLocks noChangeAspect="1"/>
          </p:cNvPicPr>
          <p:nvPr/>
        </p:nvPicPr>
        <p:blipFill>
          <a:blip r:embed="rId3">
            <a:alphaModFix amt="30000"/>
            <a:extLst>
              <a:ext uri="{28A0092B-C50C-407E-A947-70E740481C1C}">
                <a14:useLocalDpi xmlns:a14="http://schemas.microsoft.com/office/drawing/2010/main" val="0"/>
              </a:ext>
            </a:extLst>
          </a:blip>
          <a:stretch>
            <a:fillRect/>
          </a:stretch>
        </p:blipFill>
        <p:spPr>
          <a:xfrm>
            <a:off x="6882580" y="3806083"/>
            <a:ext cx="5418189" cy="3392436"/>
          </a:xfrm>
          <a:prstGeom prst="rect">
            <a:avLst/>
          </a:prstGeom>
        </p:spPr>
      </p:pic>
      <p:sp>
        <p:nvSpPr>
          <p:cNvPr id="2" name="Title 1">
            <a:extLst>
              <a:ext uri="{FF2B5EF4-FFF2-40B4-BE49-F238E27FC236}">
                <a16:creationId xmlns:a16="http://schemas.microsoft.com/office/drawing/2014/main" id="{4EF0C17E-C4F6-28DC-2F00-93B8CCAF019E}"/>
              </a:ext>
            </a:extLst>
          </p:cNvPr>
          <p:cNvSpPr>
            <a:spLocks noGrp="1"/>
          </p:cNvSpPr>
          <p:nvPr>
            <p:ph type="title"/>
          </p:nvPr>
        </p:nvSpPr>
        <p:spPr/>
        <p:txBody>
          <a:bodyPr>
            <a:normAutofit/>
          </a:bodyPr>
          <a:lstStyle/>
          <a:p>
            <a:r>
              <a:rPr lang="en-IN" sz="4000" b="1" dirty="0"/>
              <a:t>India Used Car Market : Key Trends </a:t>
            </a:r>
          </a:p>
        </p:txBody>
      </p:sp>
      <p:sp>
        <p:nvSpPr>
          <p:cNvPr id="3" name="Content Placeholder 2">
            <a:extLst>
              <a:ext uri="{FF2B5EF4-FFF2-40B4-BE49-F238E27FC236}">
                <a16:creationId xmlns:a16="http://schemas.microsoft.com/office/drawing/2014/main" id="{52649564-210E-6F8F-66BB-192CBF27B7FD}"/>
              </a:ext>
            </a:extLst>
          </p:cNvPr>
          <p:cNvSpPr>
            <a:spLocks noGrp="1"/>
          </p:cNvSpPr>
          <p:nvPr>
            <p:ph idx="1"/>
          </p:nvPr>
        </p:nvSpPr>
        <p:spPr/>
        <p:txBody>
          <a:bodyPr>
            <a:normAutofit/>
          </a:bodyPr>
          <a:lstStyle/>
          <a:p>
            <a:r>
              <a:rPr lang="en-IN" sz="1800" b="1" dirty="0"/>
              <a:t>Rise of SUVs and Premiumization:</a:t>
            </a:r>
            <a:r>
              <a:rPr lang="en-IN" sz="1800" dirty="0"/>
              <a:t> </a:t>
            </a:r>
            <a:r>
              <a:rPr lang="en-US" sz="1800" dirty="0"/>
              <a:t>SUVs and compact SUVs have captured over 50% of the market. Consumers are upgrading from hatchbacks to SUVs and sedans, with a strong preference for better, more modern, feature-rich, and safer vehicles.</a:t>
            </a:r>
          </a:p>
          <a:p>
            <a:r>
              <a:rPr lang="en-US" sz="1800" b="1" dirty="0"/>
              <a:t>Digital Transformation:</a:t>
            </a:r>
            <a:r>
              <a:rPr lang="en-US" sz="1800" dirty="0"/>
              <a:t> Online marketplaces (like </a:t>
            </a:r>
            <a:r>
              <a:rPr lang="en-US" sz="1800" b="1" dirty="0"/>
              <a:t>Cars24</a:t>
            </a:r>
            <a:r>
              <a:rPr lang="en-US" sz="1800" dirty="0"/>
              <a:t>,</a:t>
            </a:r>
            <a:r>
              <a:rPr lang="en-US" sz="1800" b="1" dirty="0"/>
              <a:t> Spinny</a:t>
            </a:r>
            <a:r>
              <a:rPr lang="en-US" sz="1800" dirty="0"/>
              <a:t>) are rapidly gaining share by increasing transparency and providing access to a wider selection of vehicles.</a:t>
            </a:r>
          </a:p>
          <a:p>
            <a:r>
              <a:rPr lang="en-US" sz="1800" b="1" dirty="0"/>
              <a:t>Younger Car Age:</a:t>
            </a:r>
            <a:r>
              <a:rPr lang="en-US" sz="1800" dirty="0"/>
              <a:t> The market is dominated by vehicles </a:t>
            </a:r>
            <a:r>
              <a:rPr lang="en-US" sz="1800" b="1" dirty="0"/>
              <a:t>aged 3-5 years (45.94% share) </a:t>
            </a:r>
            <a:r>
              <a:rPr lang="en-US" sz="1800" dirty="0"/>
              <a:t>due to shorter ownership cycles.</a:t>
            </a:r>
          </a:p>
          <a:p>
            <a:r>
              <a:rPr lang="en-US" sz="1800" b="1" dirty="0"/>
              <a:t>Regional Demand Concentration:</a:t>
            </a:r>
            <a:r>
              <a:rPr lang="en-US" sz="1800" dirty="0"/>
              <a:t> South and West India dominate, with Maharashtra and Karnataka being key hubs for used car sales.</a:t>
            </a:r>
          </a:p>
          <a:p>
            <a:endParaRPr lang="en-IN" sz="1800" dirty="0"/>
          </a:p>
        </p:txBody>
      </p:sp>
      <p:pic>
        <p:nvPicPr>
          <p:cNvPr id="9" name="Picture 8">
            <a:extLst>
              <a:ext uri="{FF2B5EF4-FFF2-40B4-BE49-F238E27FC236}">
                <a16:creationId xmlns:a16="http://schemas.microsoft.com/office/drawing/2014/main" id="{8ACA5714-A372-6CAF-6141-C419A8EBDDAB}"/>
              </a:ext>
            </a:extLst>
          </p:cNvPr>
          <p:cNvPicPr>
            <a:picLocks noChangeAspect="1"/>
          </p:cNvPicPr>
          <p:nvPr/>
        </p:nvPicPr>
        <p:blipFill>
          <a:blip r:embed="rId4">
            <a:alphaModFix amt="30000"/>
            <a:extLst>
              <a:ext uri="{28A0092B-C50C-407E-A947-70E740481C1C}">
                <a14:useLocalDpi xmlns:a14="http://schemas.microsoft.com/office/drawing/2010/main" val="0"/>
              </a:ext>
            </a:extLst>
          </a:blip>
          <a:stretch>
            <a:fillRect/>
          </a:stretch>
        </p:blipFill>
        <p:spPr>
          <a:xfrm>
            <a:off x="1016635" y="4395019"/>
            <a:ext cx="4587752" cy="2597918"/>
          </a:xfrm>
          <a:prstGeom prst="rect">
            <a:avLst/>
          </a:prstGeom>
        </p:spPr>
      </p:pic>
      <p:pic>
        <p:nvPicPr>
          <p:cNvPr id="4" name="Picture 3">
            <a:extLst>
              <a:ext uri="{FF2B5EF4-FFF2-40B4-BE49-F238E27FC236}">
                <a16:creationId xmlns:a16="http://schemas.microsoft.com/office/drawing/2014/main" id="{C0737E13-FD32-024D-CACF-3C4DA27AB38E}"/>
              </a:ext>
            </a:extLst>
          </p:cNvPr>
          <p:cNvPicPr>
            <a:picLocks noChangeAspect="1"/>
          </p:cNvPicPr>
          <p:nvPr/>
        </p:nvPicPr>
        <p:blipFill>
          <a:blip r:embed="rId5">
            <a:alphaModFix amt="39000"/>
            <a:extLst>
              <a:ext uri="{28A0092B-C50C-407E-A947-70E740481C1C}">
                <a14:useLocalDpi xmlns:a14="http://schemas.microsoft.com/office/drawing/2010/main" val="0"/>
              </a:ext>
            </a:extLst>
          </a:blip>
          <a:stretch>
            <a:fillRect/>
          </a:stretch>
        </p:blipFill>
        <p:spPr>
          <a:xfrm>
            <a:off x="8775293" y="365125"/>
            <a:ext cx="1430591" cy="1325564"/>
          </a:xfrm>
          <a:prstGeom prst="rect">
            <a:avLst/>
          </a:prstGeom>
        </p:spPr>
      </p:pic>
    </p:spTree>
    <p:extLst>
      <p:ext uri="{BB962C8B-B14F-4D97-AF65-F5344CB8AC3E}">
        <p14:creationId xmlns:p14="http://schemas.microsoft.com/office/powerpoint/2010/main" val="414349342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764</TotalTime>
  <Words>1361</Words>
  <Application>Microsoft Office PowerPoint</Application>
  <PresentationFormat>Widescreen</PresentationFormat>
  <Paragraphs>71</Paragraphs>
  <Slides>10</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Introduction </vt:lpstr>
      <vt:lpstr>India Used Car Market</vt:lpstr>
      <vt:lpstr>India Used Car Market Growth Drivers:</vt:lpstr>
      <vt:lpstr>India Used Car Market :Opportunities </vt:lpstr>
      <vt:lpstr>India Used Car market : Segmentation </vt:lpstr>
      <vt:lpstr>Used Car Market : Customer Personas</vt:lpstr>
      <vt:lpstr>India Used Car Market : Regional Analysis</vt:lpstr>
      <vt:lpstr>India Used Car Market : Competitive Landscape</vt:lpstr>
      <vt:lpstr>India Used Car Market : Digital Transformation </vt:lpstr>
      <vt:lpstr>India Used Car Market : Key Trends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LUCKY BISHT</dc:creator>
  <cp:lastModifiedBy>LUCKY BISHT</cp:lastModifiedBy>
  <cp:revision>21</cp:revision>
  <dcterms:created xsi:type="dcterms:W3CDTF">2026-02-25T05:17:12Z</dcterms:created>
  <dcterms:modified xsi:type="dcterms:W3CDTF">2026-02-26T07:25:27Z</dcterms:modified>
</cp:coreProperties>
</file>